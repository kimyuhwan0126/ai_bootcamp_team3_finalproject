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표지. 첫 문장: '오늘 이 QR을 찍으면 여러분 폰에서 바로 열립니다. 중간발표 때는 제 노트북에서만 돌던 것이 지금은 배포돼 있습니다.'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네 칸을 순서대로 읽지 말고 '무엇을'과 '지금 상태'만 짚는다. 나머지는 뒤 슬라이드에서 다시 나온다.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오른쪽 대화는 실제 팀 단톡방에서 있었던 흐름이다. 청중 대부분이 겪어 본 장면이라 여기서 고개를 끄덕이게 만든다.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빨간 칩 세 줄만 읽어도 슬라이드가 전달된다. 시간이 없으면 칩만 읽는다.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기둥 중 ②가 이 서비스의 정체성이다. ①은 근거, ③은 채택 장벽을 낮추는 결정.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8칸을 다 읽지 않는다. 파란 4번 칸을 짚고 '여기가 이 앱의 전부'라고 말한 뒤 넘어간다.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사진은 카카오 지도 키가 없는 빌드에서 찍혀 지도 자리가 대체 화면이다. 발표 전 키가 있는 노트북에서 npm run shots 로 다시 찍어 교체할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역 스냅은 키가 있어야만 검증되는 계약이라 전용 점검 스크립트(npm run check:station)를 따로 만들었다. 질문 나오면 부록으로.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슬라이드가 '우리가 뭘 배웠나'를 보여준다. 알고리즘을 고친 게 아니라 입력을 고쳤다는 점을 강조.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멘토가 가장 높게 평가한 부분. '되는 것처럼 보이는 것'과 '되는 것'의 차이.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중간발표를 본 청중에게 '일주일 동안 뭘 했나'를 답하는 슬라이드. 1번(배포)이 오늘 시연 구조를 바꿨다는 점이 핵심.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숫자를 다 읽지 말 것. 11/11 과 78 만 짚고 아래 '되는 것' 한 줄을 읽는다.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라이브러리를 적게 쓴 것이 자랑이 아니라, 적게 쓴 대신 규칙을 문서화했다는 것이 요점.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심사위원이 가장 물어볼 만한 슬라이드. '테스트를 몇 개 짰나'가 아니라 '테스트가 진짜 잡는지 확인했나'로 답한다.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네 건 다 읽지 말고 1번(동시 투표)과 4번(빌드 통과)만 말한다. 나머지는 질문 오면.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한계를 먼저 말하는 것이 이 팀의 브랜드다. 심사위원이 찾아낼 것을 우리가 먼저 말한다.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QR을 띄운 채로 질의응답을 받는다. 청중이 직접 만지는 동안 질문이 나온다.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질문이 나오면 여기서부터 펼친다. 시간이 없으면 건너뛴다.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554480"/>
            <a:ext cx="6035040" cy="6035040"/>
          </a:xfrm>
          <a:prstGeom prst="ellipse">
            <a:avLst/>
          </a:prstGeom>
          <a:solidFill>
            <a:srgbClr val="2E5BFF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418320" y="3291840"/>
            <a:ext cx="4023360" cy="4023360"/>
          </a:xfrm>
          <a:prstGeom prst="ellipse">
            <a:avLst/>
          </a:prstGeom>
          <a:solidFill>
            <a:srgbClr val="FF6B4A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58368" y="6583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8FA3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브레인 스파크  ·  최종발표  ·  2026. 08. 21 (금)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58368" y="1143000"/>
            <a:ext cx="6400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모이머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731520" y="217627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8FA3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 O I M E 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58368" y="2697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흩어진 우리, 딱 중간에서.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658368" y="3246120"/>
            <a:ext cx="7269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450" dirty="0">
                <a:solidFill>
                  <a:srgbClr val="C3CB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각자 다른 곳에서 출발하는 사람들이 </a:t>
            </a:r>
            <a:pPr indent="0" marL="0">
              <a:lnSpc>
                <a:spcPts val="24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아무도 혼자 크게 손해보지 않는 만남 장소</a:t>
            </a:r>
            <a:pPr indent="0" marL="0">
              <a:lnSpc>
                <a:spcPts val="2400"/>
              </a:lnSpc>
              <a:buNone/>
            </a:pPr>
            <a:r>
              <a:rPr lang="en-US" sz="1450" dirty="0">
                <a:solidFill>
                  <a:srgbClr val="C3CB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
</a:t>
            </a:r>
            <a:pPr indent="0" marL="0">
              <a:lnSpc>
                <a:spcPts val="2400"/>
              </a:lnSpc>
              <a:buNone/>
            </a:pPr>
            <a:r>
              <a:rPr lang="en-US" sz="1450" dirty="0">
                <a:solidFill>
                  <a:srgbClr val="C3CB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지도를 한 번 누르는 것만으로 함께 정하는 서비스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58368" y="4160520"/>
            <a:ext cx="2057400" cy="347472"/>
          </a:xfrm>
          <a:prstGeom prst="roundRect">
            <a:avLst>
              <a:gd name="adj" fmla="val 44737"/>
            </a:avLst>
          </a:prstGeom>
          <a:solidFill>
            <a:srgbClr val="1E2A5A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416052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FBD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 없이 링크 하나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862072" y="4160520"/>
            <a:ext cx="1051560" cy="347472"/>
          </a:xfrm>
          <a:prstGeom prst="roundRect">
            <a:avLst>
              <a:gd name="adj" fmla="val 44737"/>
            </a:avLst>
          </a:prstGeom>
          <a:solidFill>
            <a:srgbClr val="1E2A5A"/>
          </a:solidFill>
          <a:ln/>
        </p:spPr>
      </p:sp>
      <p:sp>
        <p:nvSpPr>
          <p:cNvPr id="12" name="Text 10"/>
          <p:cNvSpPr/>
          <p:nvPr/>
        </p:nvSpPr>
        <p:spPr>
          <a:xfrm>
            <a:off x="2862072" y="4160520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FBD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2~8명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059936" y="4160520"/>
            <a:ext cx="3291840" cy="347472"/>
          </a:xfrm>
          <a:prstGeom prst="roundRect">
            <a:avLst>
              <a:gd name="adj" fmla="val 44737"/>
            </a:avLst>
          </a:prstGeom>
          <a:solidFill>
            <a:srgbClr val="1E2A5A"/>
          </a:solidFill>
          <a:ln/>
        </p:spPr>
      </p:sp>
      <p:sp>
        <p:nvSpPr>
          <p:cNvPr id="14" name="Text 12"/>
          <p:cNvSpPr/>
          <p:nvPr/>
        </p:nvSpPr>
        <p:spPr>
          <a:xfrm>
            <a:off x="4059936" y="416052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FBD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Next.js · TypeScript · PostgreSQL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183880" y="2286000"/>
            <a:ext cx="3337560" cy="2606040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25128" y="2468880"/>
            <a:ext cx="1645920" cy="164592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8183880" y="418795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1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바로 열립니다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8183880" y="449884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5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ai-bootcamp-team3-final-project.vercel.app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658368" y="5120640"/>
            <a:ext cx="10881360" cy="0"/>
          </a:xfrm>
          <a:prstGeom prst="line">
            <a:avLst/>
          </a:prstGeom>
          <a:noFill/>
          <a:ln w="12700">
            <a:solidFill>
              <a:srgbClr val="2E396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58368" y="5285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FBD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팀장 최병현  ·  팀원 김유환 · 양성은 · 신동원        멘토 최종원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658368" y="56327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7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v1.0.0 — 저희 버전 규칙상 최종발표일에 딱 한 번 다는 번호입니다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658368" y="63733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E77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모이머 · 브레인 스파크</a:t>
            </a:r>
            <a:endParaRPr lang="en-US" sz="950" dirty="0"/>
          </a:p>
        </p:txBody>
      </p:sp>
      <p:sp>
        <p:nvSpPr>
          <p:cNvPr id="24" name="Text 20"/>
          <p:cNvSpPr/>
          <p:nvPr/>
        </p:nvSpPr>
        <p:spPr>
          <a:xfrm>
            <a:off x="10618927" y="63733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E77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02336"/>
            <a:ext cx="10874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E5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장 요약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58368" y="676656"/>
            <a:ext cx="108749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41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모이머는 이런 서비스입니다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58368" y="1572768"/>
            <a:ext cx="5282032" cy="2084832"/>
          </a:xfrm>
          <a:prstGeom prst="roundRect">
            <a:avLst>
              <a:gd name="adj" fmla="val 6140"/>
            </a:avLst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  <a:effectLst>
            <a:outerShdw sx="100000" sy="100000" kx="0" ky="0" algn="bl" rotWithShape="0" blurRad="127000" dist="25400" dir="5400000">
              <a:srgbClr val="8A93B2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42416" y="1883664"/>
            <a:ext cx="1188720" cy="292608"/>
          </a:xfrm>
          <a:prstGeom prst="roundRect">
            <a:avLst>
              <a:gd name="adj" fmla="val 53125"/>
            </a:avLst>
          </a:prstGeom>
          <a:solidFill>
            <a:srgbClr val="E9EDFF"/>
          </a:solidFill>
          <a:ln/>
        </p:spPr>
      </p:sp>
      <p:sp>
        <p:nvSpPr>
          <p:cNvPr id="6" name="Text 4"/>
          <p:cNvSpPr/>
          <p:nvPr/>
        </p:nvSpPr>
        <p:spPr>
          <a:xfrm>
            <a:off x="1042416" y="188366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5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42416" y="2322576"/>
            <a:ext cx="4513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50" b="1" dirty="0">
                <a:solidFill>
                  <a:srgbClr val="141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여럿이 만날 장소를 함께 정하는 웹앱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1042416" y="2944368"/>
            <a:ext cx="4513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6B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 설치도 회원가입도 없습니다.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6B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초대 링크 하나를 단톡방에 뿌리면 끝입니다.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51296" y="1572768"/>
            <a:ext cx="5282032" cy="2084832"/>
          </a:xfrm>
          <a:prstGeom prst="roundRect">
            <a:avLst>
              <a:gd name="adj" fmla="val 6140"/>
            </a:avLst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  <a:effectLst>
            <a:outerShdw sx="100000" sy="100000" kx="0" ky="0" algn="bl" rotWithShape="0" blurRad="127000" dist="25400" dir="5400000">
              <a:srgbClr val="8A93B2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635344" y="1883664"/>
            <a:ext cx="1188720" cy="292608"/>
          </a:xfrm>
          <a:prstGeom prst="roundRect">
            <a:avLst>
              <a:gd name="adj" fmla="val 53125"/>
            </a:avLst>
          </a:prstGeom>
          <a:solidFill>
            <a:srgbClr val="FFEDE8"/>
          </a:solidFill>
          <a:ln/>
        </p:spPr>
      </p:sp>
      <p:sp>
        <p:nvSpPr>
          <p:cNvPr id="11" name="Text 9"/>
          <p:cNvSpPr/>
          <p:nvPr/>
        </p:nvSpPr>
        <p:spPr>
          <a:xfrm>
            <a:off x="6635344" y="188366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누구를 위해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635344" y="2322576"/>
            <a:ext cx="4513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50" b="1" dirty="0">
                <a:solidFill>
                  <a:srgbClr val="141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서로 다른 동네에 흩어져 사는 2~8명</a:t>
            </a:r>
            <a:endParaRPr lang="en-US" sz="1850" dirty="0"/>
          </a:p>
        </p:txBody>
      </p:sp>
      <p:sp>
        <p:nvSpPr>
          <p:cNvPr id="13" name="Text 11"/>
          <p:cNvSpPr/>
          <p:nvPr/>
        </p:nvSpPr>
        <p:spPr>
          <a:xfrm>
            <a:off x="6635344" y="2944368"/>
            <a:ext cx="4513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6B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친구·동아리·팀 회식처럼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6B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출발지가 제각각인 모임이 대상입니다.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58368" y="3950208"/>
            <a:ext cx="5282032" cy="2084832"/>
          </a:xfrm>
          <a:prstGeom prst="roundRect">
            <a:avLst>
              <a:gd name="adj" fmla="val 6140"/>
            </a:avLst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  <a:effectLst>
            <a:outerShdw sx="100000" sy="100000" kx="0" ky="0" algn="bl" rotWithShape="0" blurRad="127000" dist="25400" dir="5400000">
              <a:srgbClr val="8A93B2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42416" y="4261104"/>
            <a:ext cx="1188720" cy="292608"/>
          </a:xfrm>
          <a:prstGeom prst="roundRect">
            <a:avLst>
              <a:gd name="adj" fmla="val 53125"/>
            </a:avLst>
          </a:prstGeom>
          <a:solidFill>
            <a:srgbClr val="FFF4DF"/>
          </a:solidFill>
          <a:ln/>
        </p:spPr>
      </p:sp>
      <p:sp>
        <p:nvSpPr>
          <p:cNvPr id="16" name="Text 14"/>
          <p:cNvSpPr/>
          <p:nvPr/>
        </p:nvSpPr>
        <p:spPr>
          <a:xfrm>
            <a:off x="1042416" y="426110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93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어떻게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42416" y="4700016"/>
            <a:ext cx="4513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50" b="1" dirty="0">
                <a:solidFill>
                  <a:srgbClr val="141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출발지 → 지도 한 번 탭 → 가장 공평한 곳</a:t>
            </a:r>
            <a:endParaRPr lang="en-US" sz="1850" dirty="0"/>
          </a:p>
        </p:txBody>
      </p:sp>
      <p:sp>
        <p:nvSpPr>
          <p:cNvPr id="18" name="Text 16"/>
          <p:cNvSpPr/>
          <p:nvPr/>
        </p:nvSpPr>
        <p:spPr>
          <a:xfrm>
            <a:off x="1042416" y="5321808"/>
            <a:ext cx="4513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6B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누구에게 얼마나 걸리는지를 숫자로 보여주고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6B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투표로 확정합니다.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51296" y="3950208"/>
            <a:ext cx="5282032" cy="2084832"/>
          </a:xfrm>
          <a:prstGeom prst="roundRect">
            <a:avLst>
              <a:gd name="adj" fmla="val 6140"/>
            </a:avLst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  <a:effectLst>
            <a:outerShdw sx="100000" sy="100000" kx="0" ky="0" algn="bl" rotWithShape="0" blurRad="127000" dist="25400" dir="5400000">
              <a:srgbClr val="8A93B2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635344" y="4261104"/>
            <a:ext cx="1188720" cy="292608"/>
          </a:xfrm>
          <a:prstGeom prst="roundRect">
            <a:avLst>
              <a:gd name="adj" fmla="val 53125"/>
            </a:avLst>
          </a:prstGeom>
          <a:solidFill>
            <a:srgbClr val="E4F6EC"/>
          </a:solidFill>
          <a:ln/>
        </p:spPr>
      </p:sp>
      <p:sp>
        <p:nvSpPr>
          <p:cNvPr id="21" name="Text 19"/>
          <p:cNvSpPr/>
          <p:nvPr/>
        </p:nvSpPr>
        <p:spPr>
          <a:xfrm>
            <a:off x="6635344" y="426110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A1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상태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635344" y="4700016"/>
            <a:ext cx="4513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50" b="1" dirty="0">
                <a:solidFill>
                  <a:srgbClr val="141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완료 · 설계 화면 11/11</a:t>
            </a:r>
            <a:endParaRPr lang="en-US" sz="1850" dirty="0"/>
          </a:p>
        </p:txBody>
      </p:sp>
      <p:sp>
        <p:nvSpPr>
          <p:cNvPr id="23" name="Text 21"/>
          <p:cNvSpPr/>
          <p:nvPr/>
        </p:nvSpPr>
        <p:spPr>
          <a:xfrm>
            <a:off x="6635344" y="5321808"/>
            <a:ext cx="4513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6B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브라우저 자동 테스트 78개 통과.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6B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QR을 찍으면 청중 폰에서 바로 돕니다.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658368" y="63733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AA2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모이머 · 브레인 스파크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10618927" y="63733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9AA2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02336"/>
            <a:ext cx="10874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E5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배경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58368" y="676656"/>
            <a:ext cx="108749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41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친구들이 더 이상 같은 동네에 살지 않습니다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58368" y="1627632"/>
            <a:ext cx="5623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6B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학교 때는 다 같은 동네에 있었습니다. 그때는 “어디서 볼까”가 질문이 아니었어요.
</a:t>
            </a:r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141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지금은 누구는 취업하고, 누구는 이사 가고, 누구는 아직 학교에 있습니다.
</a:t>
            </a:r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141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출발지가 흩어지는 순간 약속 장소 정하기가 매번 협상이 됩니다.
</a:t>
            </a:r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141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그리고 늘 같은 사람이 멀리서 옵니다.
</a:t>
            </a:r>
            <a:pPr indent="0" marL="0">
              <a:lnSpc>
                <a:spcPts val="2400"/>
              </a:lnSpc>
              <a:buNone/>
            </a:pPr>
            <a:r>
              <a:rPr lang="en-US" sz="1400" b="1" dirty="0">
                <a:solidFill>
                  <a:srgbClr val="FF6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문제는 그게 숫자로 보이지 않는다</a:t>
            </a:r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141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것입니다 — 아무도 “내가 얼마나 더 오는지”를 모르니 말도 못 꺼냅니다.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58368" y="4114800"/>
            <a:ext cx="5623560" cy="1691640"/>
          </a:xfrm>
          <a:prstGeom prst="roundRect">
            <a:avLst>
              <a:gd name="adj" fmla="val 8649"/>
            </a:avLst>
          </a:prstGeom>
          <a:solidFill>
            <a:srgbClr val="141A3C"/>
          </a:solidFill>
          <a:ln/>
        </p:spPr>
      </p:sp>
      <p:sp>
        <p:nvSpPr>
          <p:cNvPr id="6" name="Text 4"/>
          <p:cNvSpPr/>
          <p:nvPr/>
        </p:nvSpPr>
        <p:spPr>
          <a:xfrm>
            <a:off x="1042416" y="4370832"/>
            <a:ext cx="4855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우리가 푸는 것은 “지도 검색”이 아니라 “합의”입니다.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42416" y="4754880"/>
            <a:ext cx="48554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C3CB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장소를 찾아 주는 서비스는 이미 많습니다. 없는 것은 </a:t>
            </a:r>
            <a:pPr indent="0" marL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명이 각자 다른 곳에서 출발할 때 공평한 곳을 함께 고르는 절차</a:t>
            </a:r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C3CB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739128" y="1627632"/>
            <a:ext cx="4794199" cy="4178808"/>
          </a:xfrm>
          <a:prstGeom prst="roundRect">
            <a:avLst>
              <a:gd name="adj" fmla="val 3501"/>
            </a:avLst>
          </a:prstGeom>
          <a:solidFill>
            <a:srgbClr val="B2C7D9"/>
          </a:solidFill>
          <a:ln/>
        </p:spPr>
      </p:sp>
      <p:sp>
        <p:nvSpPr>
          <p:cNvPr id="9" name="Text 7"/>
          <p:cNvSpPr/>
          <p:nvPr/>
        </p:nvSpPr>
        <p:spPr>
          <a:xfrm>
            <a:off x="7031736" y="1828800"/>
            <a:ext cx="420898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E5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우리가 실제로 겪은 일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031736" y="2212848"/>
            <a:ext cx="1514246" cy="420624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7031736" y="2212848"/>
            <a:ext cx="151424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A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어디서 볼까?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9726473" y="2871216"/>
            <a:ext cx="1514246" cy="420624"/>
          </a:xfrm>
          <a:prstGeom prst="roundRect">
            <a:avLst>
              <a:gd name="adj" fmla="val 21739"/>
            </a:avLst>
          </a:prstGeom>
          <a:solidFill>
            <a:srgbClr val="FCE94F"/>
          </a:solidFill>
          <a:ln/>
        </p:spPr>
      </p:sp>
      <p:sp>
        <p:nvSpPr>
          <p:cNvPr id="13" name="Text 11"/>
          <p:cNvSpPr/>
          <p:nvPr/>
        </p:nvSpPr>
        <p:spPr>
          <a:xfrm>
            <a:off x="9726473" y="2871216"/>
            <a:ext cx="151424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A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아무데나 ㅋㅋ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674913" y="2944368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4560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10분 뒤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031736" y="3529584"/>
            <a:ext cx="1378915" cy="420624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7031736" y="3529584"/>
            <a:ext cx="137891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A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그럼 강남?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451799" y="4187952"/>
            <a:ext cx="2788920" cy="420624"/>
          </a:xfrm>
          <a:prstGeom prst="roundRect">
            <a:avLst>
              <a:gd name="adj" fmla="val 21739"/>
            </a:avLst>
          </a:prstGeom>
          <a:solidFill>
            <a:srgbClr val="FCE94F"/>
          </a:solidFill>
          <a:ln/>
        </p:spPr>
      </p:sp>
      <p:sp>
        <p:nvSpPr>
          <p:cNvPr id="18" name="Text 16"/>
          <p:cNvSpPr/>
          <p:nvPr/>
        </p:nvSpPr>
        <p:spPr>
          <a:xfrm>
            <a:off x="8451799" y="4187952"/>
            <a:ext cx="2788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A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 거기 1시간 넘게 걸리는데…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400239" y="4261104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4560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또 10분 뒤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031736" y="4846320"/>
            <a:ext cx="1920240" cy="420624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7031736" y="4846320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A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그럼 어디로 하지…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9006840" y="4919472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4560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(처음으로)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031736" y="5440680"/>
            <a:ext cx="420898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E5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결국 아무것도 정해지지 않은 채 20분이 지납니다.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658368" y="63733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AA2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모이머 · 브레인 스파크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10618927" y="63733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9AA2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02336"/>
            <a:ext cx="10874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E5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아직도 안 되는가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58368" y="676656"/>
            <a:ext cx="108749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41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쓰는 방법 세 가지가, 세 가지 다 안 됩니다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58368" y="1664208"/>
            <a:ext cx="3490874" cy="3035808"/>
          </a:xfrm>
          <a:prstGeom prst="roundRect">
            <a:avLst>
              <a:gd name="adj" fmla="val 4217"/>
            </a:avLst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  <a:effectLst>
            <a:outerShdw sx="100000" sy="100000" kx="0" ky="0" algn="bl" rotWithShape="0" blurRad="127000" dist="25400" dir="5400000">
              <a:srgbClr val="8A93B2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24128" y="1956816"/>
            <a:ext cx="658368" cy="658368"/>
          </a:xfrm>
          <a:prstGeom prst="ellipse">
            <a:avLst/>
          </a:prstGeom>
          <a:solidFill>
            <a:srgbClr val="E9EDFF"/>
          </a:solidFill>
          <a:ln/>
        </p:spPr>
      </p:sp>
      <p:sp>
        <p:nvSpPr>
          <p:cNvPr id="6" name="Text 4"/>
          <p:cNvSpPr/>
          <p:nvPr/>
        </p:nvSpPr>
        <p:spPr>
          <a:xfrm>
            <a:off x="1024128" y="195681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24128" y="2761488"/>
            <a:ext cx="27593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1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단톡방 눈대중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024128" y="3200400"/>
            <a:ext cx="275935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6B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누구도 계산하지 않고 “대충 중간”으로 정합니다.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6B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결국 말 센 사람 근처나 늘 가던 곳으로 갑니다.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024128" y="4224528"/>
            <a:ext cx="2759354" cy="347472"/>
          </a:xfrm>
          <a:prstGeom prst="roundRect">
            <a:avLst>
              <a:gd name="adj" fmla="val 44737"/>
            </a:avLst>
          </a:prstGeom>
          <a:solidFill>
            <a:srgbClr val="FFEDE8"/>
          </a:solidFill>
          <a:ln/>
        </p:spPr>
      </p:sp>
      <p:sp>
        <p:nvSpPr>
          <p:cNvPr id="10" name="Text 8"/>
          <p:cNvSpPr/>
          <p:nvPr/>
        </p:nvSpPr>
        <p:spPr>
          <a:xfrm>
            <a:off x="1024128" y="4224528"/>
            <a:ext cx="275935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739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✕  공평한지 아무도 모른다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50410" y="1664208"/>
            <a:ext cx="3490874" cy="3035808"/>
          </a:xfrm>
          <a:prstGeom prst="roundRect">
            <a:avLst>
              <a:gd name="adj" fmla="val 4217"/>
            </a:avLst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  <a:effectLst>
            <a:outerShdw sx="100000" sy="100000" kx="0" ky="0" algn="bl" rotWithShape="0" blurRad="127000" dist="25400" dir="5400000">
              <a:srgbClr val="8A93B2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16170" y="1956816"/>
            <a:ext cx="658368" cy="658368"/>
          </a:xfrm>
          <a:prstGeom prst="ellipse">
            <a:avLst/>
          </a:prstGeom>
          <a:solidFill>
            <a:srgbClr val="FFF4DF"/>
          </a:solidFill>
          <a:ln/>
        </p:spPr>
      </p:sp>
      <p:sp>
        <p:nvSpPr>
          <p:cNvPr id="13" name="Text 11"/>
          <p:cNvSpPr/>
          <p:nvPr/>
        </p:nvSpPr>
        <p:spPr>
          <a:xfrm>
            <a:off x="4716170" y="195681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🗺️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716170" y="2761488"/>
            <a:ext cx="27593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1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지도 앱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716170" y="3200400"/>
            <a:ext cx="275935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6B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길찾기는 출발지 하나 → 도착지 하나입니다.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6B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출발지를 동시에 놓고 물어볼 수가 없습니다.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716170" y="4224528"/>
            <a:ext cx="2759354" cy="347472"/>
          </a:xfrm>
          <a:prstGeom prst="roundRect">
            <a:avLst>
              <a:gd name="adj" fmla="val 44737"/>
            </a:avLst>
          </a:prstGeom>
          <a:solidFill>
            <a:srgbClr val="FFEDE8"/>
          </a:solidFill>
          <a:ln/>
        </p:spPr>
      </p:sp>
      <p:sp>
        <p:nvSpPr>
          <p:cNvPr id="17" name="Text 15"/>
          <p:cNvSpPr/>
          <p:nvPr/>
        </p:nvSpPr>
        <p:spPr>
          <a:xfrm>
            <a:off x="4716170" y="4224528"/>
            <a:ext cx="275935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739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✕  한 사람 기준으로만 본다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042453" y="1664208"/>
            <a:ext cx="3490874" cy="3035808"/>
          </a:xfrm>
          <a:prstGeom prst="roundRect">
            <a:avLst>
              <a:gd name="adj" fmla="val 4217"/>
            </a:avLst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  <a:effectLst>
            <a:outerShdw sx="100000" sy="100000" kx="0" ky="0" algn="bl" rotWithShape="0" blurRad="127000" dist="25400" dir="5400000">
              <a:srgbClr val="8A93B2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408213" y="1956816"/>
            <a:ext cx="658368" cy="658368"/>
          </a:xfrm>
          <a:prstGeom prst="ellipse">
            <a:avLst/>
          </a:prstGeom>
          <a:solidFill>
            <a:srgbClr val="E4F6EC"/>
          </a:solidFill>
          <a:ln/>
        </p:spPr>
      </p:sp>
      <p:sp>
        <p:nvSpPr>
          <p:cNvPr id="20" name="Text 18"/>
          <p:cNvSpPr/>
          <p:nvPr/>
        </p:nvSpPr>
        <p:spPr>
          <a:xfrm>
            <a:off x="8408213" y="195681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🗳️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408213" y="2761488"/>
            <a:ext cx="27593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1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그냥 투표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8408213" y="3200400"/>
            <a:ext cx="275935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6B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각자 다른 이름으로 제안하니 “강남”·“강남역”·“역삼”이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6B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서로 다른 후보가 됩니다. 표가 흩어집니다.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408213" y="4224528"/>
            <a:ext cx="2759354" cy="347472"/>
          </a:xfrm>
          <a:prstGeom prst="roundRect">
            <a:avLst>
              <a:gd name="adj" fmla="val 44737"/>
            </a:avLst>
          </a:prstGeom>
          <a:solidFill>
            <a:srgbClr val="FFEDE8"/>
          </a:solidFill>
          <a:ln/>
        </p:spPr>
      </p:sp>
      <p:sp>
        <p:nvSpPr>
          <p:cNvPr id="24" name="Text 22"/>
          <p:cNvSpPr/>
          <p:nvPr/>
        </p:nvSpPr>
        <p:spPr>
          <a:xfrm>
            <a:off x="8408213" y="4224528"/>
            <a:ext cx="275935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739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✕  투표해도 결론이 안 난다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58368" y="4956048"/>
            <a:ext cx="10874959" cy="841248"/>
          </a:xfrm>
          <a:prstGeom prst="roundRect">
            <a:avLst>
              <a:gd name="adj" fmla="val 15217"/>
            </a:avLst>
          </a:prstGeom>
          <a:solidFill>
            <a:srgbClr val="2E5BFF"/>
          </a:solidFill>
          <a:ln/>
        </p:spPr>
      </p:sp>
      <p:sp>
        <p:nvSpPr>
          <p:cNvPr id="26" name="Text 24"/>
          <p:cNvSpPr/>
          <p:nvPr/>
        </p:nvSpPr>
        <p:spPr>
          <a:xfrm>
            <a:off x="1042416" y="4956048"/>
            <a:ext cx="10106863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모이머는 이 셋을 한 화면에서 해결합니다  —  </a:t>
            </a:r>
            <a:pPr indent="0" marL="0">
              <a:buNone/>
            </a:pPr>
            <a:r>
              <a:rPr lang="en-US" sz="1400" dirty="0">
                <a:solidFill>
                  <a:srgbClr val="D9E1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출발지를 동시에 계산하고, 공평함을 숫자로 보여주고, 같은 곳을 누른 사람을 하나로 묶습니다.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658368" y="63733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AA2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모이머 · 브레인 스파크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10618927" y="63733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9AA2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02336"/>
            <a:ext cx="10874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E5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58368" y="676656"/>
            <a:ext cx="108749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41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출발지만 넣으면, 나머지는 지도 한 번으로 끝납니다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58368" y="1664208"/>
            <a:ext cx="3490874" cy="3246120"/>
          </a:xfrm>
          <a:prstGeom prst="roundRect">
            <a:avLst>
              <a:gd name="adj" fmla="val 3944"/>
            </a:avLst>
          </a:prstGeom>
          <a:solidFill>
            <a:srgbClr val="F4F6FC"/>
          </a:solidFill>
          <a:ln/>
        </p:spPr>
      </p:sp>
      <p:sp>
        <p:nvSpPr>
          <p:cNvPr id="5" name="Shape 3"/>
          <p:cNvSpPr/>
          <p:nvPr/>
        </p:nvSpPr>
        <p:spPr>
          <a:xfrm>
            <a:off x="1042416" y="1938528"/>
            <a:ext cx="548640" cy="548640"/>
          </a:xfrm>
          <a:prstGeom prst="ellipse">
            <a:avLst/>
          </a:prstGeom>
          <a:solidFill>
            <a:srgbClr val="2E5BFF"/>
          </a:solidFill>
          <a:ln/>
        </p:spPr>
      </p:sp>
      <p:sp>
        <p:nvSpPr>
          <p:cNvPr id="6" name="Text 4"/>
          <p:cNvSpPr/>
          <p:nvPr/>
        </p:nvSpPr>
        <p:spPr>
          <a:xfrm>
            <a:off x="1042416" y="19385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42416" y="2615184"/>
            <a:ext cx="27227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141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공평함을 숫자로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1042416" y="3054096"/>
            <a:ext cx="272277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4B54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후보마다 가장 오래 걸리는 사람의 시간과 사람 간 편차를 계산해 보여줍니다. 평균이 아니라 최악을 봅니다 — 평균이면 3명 만족·1명 지옥인 곳이 1위가 됩니다.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042416" y="4434840"/>
            <a:ext cx="2722778" cy="365760"/>
          </a:xfrm>
          <a:prstGeom prst="roundRect">
            <a:avLst>
              <a:gd name="adj" fmla="val 42500"/>
            </a:avLst>
          </a:prstGeom>
          <a:solidFill>
            <a:srgbClr val="FFFFFF"/>
          </a:solidFill>
          <a:ln w="12700">
            <a:solidFill>
              <a:srgbClr val="C9D3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2416" y="4434840"/>
            <a:ext cx="27227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3F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점수 = 최대 이동시간 + 편차 × 0.8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50410" y="1664208"/>
            <a:ext cx="3490874" cy="3246120"/>
          </a:xfrm>
          <a:prstGeom prst="roundRect">
            <a:avLst>
              <a:gd name="adj" fmla="val 3944"/>
            </a:avLst>
          </a:prstGeom>
          <a:solidFill>
            <a:srgbClr val="F4F6FC"/>
          </a:solidFill>
          <a:ln/>
        </p:spPr>
      </p:sp>
      <p:sp>
        <p:nvSpPr>
          <p:cNvPr id="12" name="Shape 10"/>
          <p:cNvSpPr/>
          <p:nvPr/>
        </p:nvSpPr>
        <p:spPr>
          <a:xfrm>
            <a:off x="4734458" y="1938528"/>
            <a:ext cx="548640" cy="548640"/>
          </a:xfrm>
          <a:prstGeom prst="ellipse">
            <a:avLst/>
          </a:prstGeom>
          <a:solidFill>
            <a:srgbClr val="2E5BFF"/>
          </a:solidFill>
          <a:ln/>
        </p:spPr>
      </p:sp>
      <p:sp>
        <p:nvSpPr>
          <p:cNvPr id="13" name="Text 11"/>
          <p:cNvSpPr/>
          <p:nvPr/>
        </p:nvSpPr>
        <p:spPr>
          <a:xfrm>
            <a:off x="4734458" y="19385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734458" y="2615184"/>
            <a:ext cx="27227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141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지도 한 번 = 한 표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4734458" y="3054096"/>
            <a:ext cx="272277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4B54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“후보를 등록하고 → 다시 투표한다”를 한 단계로 합쳤습니다. 누르면 가까운 지하철역으로 정리되고, 같은 곳을 누른 사람끼리 자동으로 하나로 합쳐집니다.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734458" y="4434840"/>
            <a:ext cx="2722778" cy="365760"/>
          </a:xfrm>
          <a:prstGeom prst="roundRect">
            <a:avLst>
              <a:gd name="adj" fmla="val 42500"/>
            </a:avLst>
          </a:prstGeom>
          <a:solidFill>
            <a:srgbClr val="FFFFFF"/>
          </a:solidFill>
          <a:ln w="12700">
            <a:solidFill>
              <a:srgbClr val="C9D3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34458" y="4434840"/>
            <a:ext cx="27227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3F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“누른 것이 곧 한 표예요”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042453" y="1664208"/>
            <a:ext cx="3490874" cy="3246120"/>
          </a:xfrm>
          <a:prstGeom prst="roundRect">
            <a:avLst>
              <a:gd name="adj" fmla="val 3944"/>
            </a:avLst>
          </a:prstGeom>
          <a:solidFill>
            <a:srgbClr val="F4F6FC"/>
          </a:solidFill>
          <a:ln/>
        </p:spPr>
      </p:sp>
      <p:sp>
        <p:nvSpPr>
          <p:cNvPr id="19" name="Shape 17"/>
          <p:cNvSpPr/>
          <p:nvPr/>
        </p:nvSpPr>
        <p:spPr>
          <a:xfrm>
            <a:off x="8426501" y="1938528"/>
            <a:ext cx="548640" cy="548640"/>
          </a:xfrm>
          <a:prstGeom prst="ellipse">
            <a:avLst/>
          </a:prstGeom>
          <a:solidFill>
            <a:srgbClr val="2E5BFF"/>
          </a:solidFill>
          <a:ln/>
        </p:spPr>
      </p:sp>
      <p:sp>
        <p:nvSpPr>
          <p:cNvPr id="20" name="Text 18"/>
          <p:cNvSpPr/>
          <p:nvPr/>
        </p:nvSpPr>
        <p:spPr>
          <a:xfrm>
            <a:off x="8426501" y="19385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426501" y="2615184"/>
            <a:ext cx="27227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141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카톡을 대체하지 않습니다</a:t>
            </a:r>
            <a:endParaRPr lang="en-US" sz="1850" dirty="0"/>
          </a:p>
        </p:txBody>
      </p:sp>
      <p:sp>
        <p:nvSpPr>
          <p:cNvPr id="22" name="Text 20"/>
          <p:cNvSpPr/>
          <p:nvPr/>
        </p:nvSpPr>
        <p:spPr>
          <a:xfrm>
            <a:off x="8426501" y="3054096"/>
            <a:ext cx="272277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4B54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대화는 원래 쓰던 단톡방에서 합니다. 모이머는 링크 하나로 들어와 장소만 정하고 나갑니다. 새 메신저를 배우게 하지 않습니다.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426501" y="4434840"/>
            <a:ext cx="2722778" cy="365760"/>
          </a:xfrm>
          <a:prstGeom prst="roundRect">
            <a:avLst>
              <a:gd name="adj" fmla="val 42500"/>
            </a:avLst>
          </a:prstGeom>
          <a:solidFill>
            <a:srgbClr val="FFFFFF"/>
          </a:solidFill>
          <a:ln w="12700">
            <a:solidFill>
              <a:srgbClr val="C9D3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26501" y="4434840"/>
            <a:ext cx="27227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3F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초대 링크 → 지도 탭 → 끝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58368" y="5138928"/>
            <a:ext cx="1087495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회원가입 없이 홈에서 바로 맛볼 수 있습니다.  </a:t>
            </a:r>
            <a:pPr indent="0" marL="0">
              <a:buNone/>
            </a:pPr>
            <a:r>
              <a:rPr lang="en-US" sz="1250" dirty="0">
                <a:solidFill>
                  <a:srgbClr val="6B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출발지 2곳만 넣어도 중간지점이 나오고, 마음에 들면 그 출발지들을 그대로 들고 모임으로 넘어갑니다 — 가입은 그다음입니다.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658368" y="63733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AA2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모이머 · 브레인 스파크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10618927" y="63733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9AA2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02336"/>
            <a:ext cx="10874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E5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 흐름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58368" y="676656"/>
            <a:ext cx="108749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41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초대 링크를 받은 순간부터 모임 당일까지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58368" y="1645920"/>
            <a:ext cx="2567864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  <a:effectLst>
            <a:outerShdw sx="100000" sy="100000" kx="0" ky="0" algn="bl" rotWithShape="0" blurRad="127000" dist="25400" dir="5400000">
              <a:srgbClr val="8A93B2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1865376"/>
            <a:ext cx="384048" cy="384048"/>
          </a:xfrm>
          <a:prstGeom prst="ellipse">
            <a:avLst/>
          </a:prstGeom>
          <a:solidFill>
            <a:srgbClr val="E9EDFF"/>
          </a:solidFill>
          <a:ln/>
        </p:spPr>
      </p:sp>
      <p:sp>
        <p:nvSpPr>
          <p:cNvPr id="6" name="Text 4"/>
          <p:cNvSpPr/>
          <p:nvPr/>
        </p:nvSpPr>
        <p:spPr>
          <a:xfrm>
            <a:off x="932688" y="1865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F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32688" y="2340864"/>
            <a:ext cx="2019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1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없이 맛보기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32688" y="2706624"/>
            <a:ext cx="20192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6B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출발지를 넣으면 즉시 중간지점 1곳. 가입도 모임 생성도 필요 없습니다.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27400" y="1645920"/>
            <a:ext cx="2567864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  <a:effectLst>
            <a:outerShdw sx="100000" sy="100000" kx="0" ky="0" algn="bl" rotWithShape="0" blurRad="127000" dist="25400" dir="5400000">
              <a:srgbClr val="8A93B2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701720" y="1865376"/>
            <a:ext cx="384048" cy="384048"/>
          </a:xfrm>
          <a:prstGeom prst="ellipse">
            <a:avLst/>
          </a:prstGeom>
          <a:solidFill>
            <a:srgbClr val="E9EDFF"/>
          </a:solidFill>
          <a:ln/>
        </p:spPr>
      </p:sp>
      <p:sp>
        <p:nvSpPr>
          <p:cNvPr id="11" name="Text 9"/>
          <p:cNvSpPr/>
          <p:nvPr/>
        </p:nvSpPr>
        <p:spPr>
          <a:xfrm>
            <a:off x="3701720" y="1865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F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701720" y="2340864"/>
            <a:ext cx="2019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1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모임 만들기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701720" y="2706624"/>
            <a:ext cx="20192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6B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중요한 질문 하나를 먼저 — 동네까지만 정할지, 가게까지 정할지.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96432" y="1645920"/>
            <a:ext cx="2567864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  <a:effectLst>
            <a:outerShdw sx="100000" sy="100000" kx="0" ky="0" algn="bl" rotWithShape="0" blurRad="127000" dist="25400" dir="5400000">
              <a:srgbClr val="8A93B2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70752" y="1865376"/>
            <a:ext cx="384048" cy="384048"/>
          </a:xfrm>
          <a:prstGeom prst="ellipse">
            <a:avLst/>
          </a:prstGeom>
          <a:solidFill>
            <a:srgbClr val="E9EDFF"/>
          </a:solidFill>
          <a:ln/>
        </p:spPr>
      </p:sp>
      <p:sp>
        <p:nvSpPr>
          <p:cNvPr id="16" name="Text 14"/>
          <p:cNvSpPr/>
          <p:nvPr/>
        </p:nvSpPr>
        <p:spPr>
          <a:xfrm>
            <a:off x="6470752" y="1865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F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70752" y="2340864"/>
            <a:ext cx="2019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1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링크로 들어와 구경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70752" y="2706624"/>
            <a:ext cx="20192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6B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폼이 아니라 지도가 먼저 뜹니다. 정보는 행동할 때 묻습니다.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965463" y="1645920"/>
            <a:ext cx="2567864" cy="1828800"/>
          </a:xfrm>
          <a:prstGeom prst="roundRect">
            <a:avLst>
              <a:gd name="adj" fmla="val 7000"/>
            </a:avLst>
          </a:prstGeom>
          <a:solidFill>
            <a:srgbClr val="2E5BFF"/>
          </a:solidFill>
          <a:ln/>
        </p:spPr>
      </p:sp>
      <p:sp>
        <p:nvSpPr>
          <p:cNvPr id="20" name="Shape 18"/>
          <p:cNvSpPr/>
          <p:nvPr/>
        </p:nvSpPr>
        <p:spPr>
          <a:xfrm>
            <a:off x="9239783" y="1865376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9239783" y="1865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5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239783" y="2340864"/>
            <a:ext cx="2019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지도 한 번 = 한 표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239783" y="2706624"/>
            <a:ext cx="20192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누른 자리가 가까운 역으로 정리되고 같은 곳끼리 합쳐집니다.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58368" y="3694176"/>
            <a:ext cx="2567864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  <a:effectLst>
            <a:outerShdw sx="100000" sy="100000" kx="0" ky="0" algn="bl" rotWithShape="0" blurRad="127000" dist="25400" dir="5400000">
              <a:srgbClr val="8A93B2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32688" y="3913632"/>
            <a:ext cx="384048" cy="384048"/>
          </a:xfrm>
          <a:prstGeom prst="ellipse">
            <a:avLst/>
          </a:prstGeom>
          <a:solidFill>
            <a:srgbClr val="E9EDFF"/>
          </a:solidFill>
          <a:ln/>
        </p:spPr>
      </p:sp>
      <p:sp>
        <p:nvSpPr>
          <p:cNvPr id="26" name="Text 24"/>
          <p:cNvSpPr/>
          <p:nvPr/>
        </p:nvSpPr>
        <p:spPr>
          <a:xfrm>
            <a:off x="932688" y="3913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F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32688" y="4389120"/>
            <a:ext cx="2019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1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방장이 지역 확정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32688" y="4754880"/>
            <a:ext cx="20192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6B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전원을 기다리지 않습니다. 후보가 부족하면 AI 추천 버튼.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427400" y="3694176"/>
            <a:ext cx="2567864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  <a:effectLst>
            <a:outerShdw sx="100000" sy="100000" kx="0" ky="0" algn="bl" rotWithShape="0" blurRad="127000" dist="25400" dir="5400000">
              <a:srgbClr val="8A93B2">
                <a:alpha val="13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701720" y="3913632"/>
            <a:ext cx="384048" cy="384048"/>
          </a:xfrm>
          <a:prstGeom prst="ellipse">
            <a:avLst/>
          </a:prstGeom>
          <a:solidFill>
            <a:srgbClr val="E9EDFF"/>
          </a:solidFill>
          <a:ln/>
        </p:spPr>
      </p:sp>
      <p:sp>
        <p:nvSpPr>
          <p:cNvPr id="31" name="Text 29"/>
          <p:cNvSpPr/>
          <p:nvPr/>
        </p:nvSpPr>
        <p:spPr>
          <a:xfrm>
            <a:off x="3701720" y="3913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F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701720" y="4389120"/>
            <a:ext cx="2019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1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반경 700m 안 가게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701720" y="4754880"/>
            <a:ext cx="20192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6B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걸어갈 수 있는 거리로만. 카테고리 5종 · 후보 상한 5개.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196432" y="3694176"/>
            <a:ext cx="2567864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  <a:effectLst>
            <a:outerShdw sx="100000" sy="100000" kx="0" ky="0" algn="bl" rotWithShape="0" blurRad="127000" dist="25400" dir="5400000">
              <a:srgbClr val="8A93B2">
                <a:alpha val="13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470752" y="3913632"/>
            <a:ext cx="384048" cy="384048"/>
          </a:xfrm>
          <a:prstGeom prst="ellipse">
            <a:avLst/>
          </a:prstGeom>
          <a:solidFill>
            <a:srgbClr val="E9EDFF"/>
          </a:solidFill>
          <a:ln/>
        </p:spPr>
      </p:sp>
      <p:sp>
        <p:nvSpPr>
          <p:cNvPr id="36" name="Text 34"/>
          <p:cNvSpPr/>
          <p:nvPr/>
        </p:nvSpPr>
        <p:spPr>
          <a:xfrm>
            <a:off x="6470752" y="3913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F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470752" y="4389120"/>
            <a:ext cx="2019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1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투표 → 결과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470752" y="4754880"/>
            <a:ext cx="20192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6B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확정되면 각자 폰에 자기 경로가 그려집니다. 1.8초마다 자동 동기화.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965463" y="3694176"/>
            <a:ext cx="2567864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  <a:effectLst>
            <a:outerShdw sx="100000" sy="100000" kx="0" ky="0" algn="bl" rotWithShape="0" blurRad="127000" dist="25400" dir="5400000">
              <a:srgbClr val="8A93B2">
                <a:alpha val="13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9239783" y="3913632"/>
            <a:ext cx="384048" cy="384048"/>
          </a:xfrm>
          <a:prstGeom prst="ellipse">
            <a:avLst/>
          </a:prstGeom>
          <a:solidFill>
            <a:srgbClr val="E9EDFF"/>
          </a:solidFill>
          <a:ln/>
        </p:spPr>
      </p:sp>
      <p:sp>
        <p:nvSpPr>
          <p:cNvPr id="41" name="Text 39"/>
          <p:cNvSpPr/>
          <p:nvPr/>
        </p:nvSpPr>
        <p:spPr>
          <a:xfrm>
            <a:off x="9239783" y="3913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F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9239783" y="4389120"/>
            <a:ext cx="2019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1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당일 · 다음 모임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9239783" y="4754880"/>
            <a:ext cx="20192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6B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도착 신호등(갈게요/늦어요/못 가요) → 지난 모임 → 같은 멤버로 재모임.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58368" y="5705856"/>
            <a:ext cx="108749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E5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핵심은 STEP 4 입니다.  </a:t>
            </a:r>
            <a:pPr indent="0" marL="0">
              <a:buNone/>
            </a:pPr>
            <a:r>
              <a:rPr lang="en-US" sz="1250" dirty="0">
                <a:solidFill>
                  <a:srgbClr val="6B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서비스가 “검색해서 고르기”로 끝난다면, 모이머는 여기서 여러 사람의 의사를 한 화면에 모읍니다.</a:t>
            </a:r>
            <a:endParaRPr lang="en-US" sz="1250" dirty="0"/>
          </a:p>
        </p:txBody>
      </p:sp>
      <p:sp>
        <p:nvSpPr>
          <p:cNvPr id="46" name="Text 43"/>
          <p:cNvSpPr/>
          <p:nvPr/>
        </p:nvSpPr>
        <p:spPr>
          <a:xfrm>
            <a:off x="658368" y="63733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AA2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모이머 · 브레인 스파크</a:t>
            </a:r>
            <a:endParaRPr lang="en-US" sz="950" dirty="0"/>
          </a:p>
        </p:txBody>
      </p:sp>
      <p:sp>
        <p:nvSpPr>
          <p:cNvPr id="47" name="Text 44"/>
          <p:cNvSpPr/>
          <p:nvPr/>
        </p:nvSpPr>
        <p:spPr>
          <a:xfrm>
            <a:off x="10618927" y="63733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9AA2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02336"/>
            <a:ext cx="10874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E5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화면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58368" y="676656"/>
            <a:ext cx="108749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41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QR을 찍으면 이 화면이 뜹니다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58368" y="1280160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화면 11대 전부 구현 · 아래는 그중 핵심 3장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03504" y="1636776"/>
            <a:ext cx="1938528" cy="4028585"/>
          </a:xfrm>
          <a:prstGeom prst="roundRect">
            <a:avLst>
              <a:gd name="adj" fmla="val 6604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27000" dist="25400" dir="5400000">
              <a:srgbClr val="8A93B2">
                <a:alpha val="13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691640"/>
            <a:ext cx="1828800" cy="391885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" y="5738513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홈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743200" y="1636776"/>
            <a:ext cx="1938528" cy="4028585"/>
          </a:xfrm>
          <a:prstGeom prst="roundRect">
            <a:avLst>
              <a:gd name="adj" fmla="val 6604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27000" dist="25400" dir="5400000">
              <a:srgbClr val="8A93B2">
                <a:alpha val="13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8064" y="1691640"/>
            <a:ext cx="1828800" cy="391885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798064" y="5738513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핑 등록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4882896" y="1636776"/>
            <a:ext cx="1938528" cy="4028585"/>
          </a:xfrm>
          <a:prstGeom prst="roundRect">
            <a:avLst>
              <a:gd name="adj" fmla="val 6604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27000" dist="25400" dir="5400000">
              <a:srgbClr val="8A93B2">
                <a:alpha val="13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1691640"/>
            <a:ext cx="1828800" cy="391885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937760" y="5738513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결과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7269480" y="1691640"/>
            <a:ext cx="4263847" cy="1234440"/>
          </a:xfrm>
          <a:prstGeom prst="roundRect">
            <a:avLst>
              <a:gd name="adj" fmla="val 10370"/>
            </a:avLst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  <a:effectLst>
            <a:outerShdw sx="100000" sy="100000" kx="0" ky="0" algn="bl" rotWithShape="0" blurRad="127000" dist="25400" dir="5400000">
              <a:srgbClr val="8A93B2">
                <a:alpha val="13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7543800" y="1929384"/>
            <a:ext cx="402336" cy="402336"/>
          </a:xfrm>
          <a:prstGeom prst="ellipse">
            <a:avLst/>
          </a:prstGeom>
          <a:solidFill>
            <a:srgbClr val="E9EDFF"/>
          </a:solidFill>
          <a:ln/>
        </p:spPr>
      </p:sp>
      <p:sp>
        <p:nvSpPr>
          <p:cNvPr id="16" name="Text 11"/>
          <p:cNvSpPr/>
          <p:nvPr/>
        </p:nvSpPr>
        <p:spPr>
          <a:xfrm>
            <a:off x="7543800" y="19293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F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8092440" y="1911096"/>
            <a:ext cx="316656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1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 — 로그인 없이 맛보기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092440" y="2276856"/>
            <a:ext cx="316656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6B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출발지 4곳을 넣으면 중간지점 ‘왕십리’와 걸어갈 수 있는 가게가 바로 나옵니다.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7269480" y="3108960"/>
            <a:ext cx="4263847" cy="1234440"/>
          </a:xfrm>
          <a:prstGeom prst="roundRect">
            <a:avLst>
              <a:gd name="adj" fmla="val 10370"/>
            </a:avLst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  <a:effectLst>
            <a:outerShdw sx="100000" sy="100000" kx="0" ky="0" algn="bl" rotWithShape="0" blurRad="127000" dist="25400" dir="5400000">
              <a:srgbClr val="8A93B2">
                <a:alpha val="13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543800" y="3346704"/>
            <a:ext cx="402336" cy="402336"/>
          </a:xfrm>
          <a:prstGeom prst="ellipse">
            <a:avLst/>
          </a:prstGeom>
          <a:solidFill>
            <a:srgbClr val="E9EDFF"/>
          </a:solidFill>
          <a:ln/>
        </p:spPr>
      </p:sp>
      <p:sp>
        <p:nvSpPr>
          <p:cNvPr id="21" name="Text 16"/>
          <p:cNvSpPr/>
          <p:nvPr/>
        </p:nvSpPr>
        <p:spPr>
          <a:xfrm>
            <a:off x="7543800" y="33467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F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8092440" y="3328416"/>
            <a:ext cx="316656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1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핑 등록 — 지도 한 번 = 한 표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8092440" y="3694176"/>
            <a:ext cx="316656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6B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누른 자리를 확인 시트로 되묻고 등록합니다. 1인 1개라 다른 곳을 누르면 그쪽으로 옮겨갑니다.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7269480" y="4526280"/>
            <a:ext cx="4263847" cy="1234440"/>
          </a:xfrm>
          <a:prstGeom prst="roundRect">
            <a:avLst>
              <a:gd name="adj" fmla="val 10370"/>
            </a:avLst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  <a:effectLst>
            <a:outerShdw sx="100000" sy="100000" kx="0" ky="0" algn="bl" rotWithShape="0" blurRad="127000" dist="25400" dir="5400000">
              <a:srgbClr val="8A93B2">
                <a:alpha val="13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7543800" y="4764024"/>
            <a:ext cx="402336" cy="402336"/>
          </a:xfrm>
          <a:prstGeom prst="ellipse">
            <a:avLst/>
          </a:prstGeom>
          <a:solidFill>
            <a:srgbClr val="E9EDFF"/>
          </a:solidFill>
          <a:ln/>
        </p:spPr>
      </p:sp>
      <p:sp>
        <p:nvSpPr>
          <p:cNvPr id="26" name="Text 21"/>
          <p:cNvSpPr/>
          <p:nvPr/>
        </p:nvSpPr>
        <p:spPr>
          <a:xfrm>
            <a:off x="7543800" y="47640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F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8092440" y="4745736"/>
            <a:ext cx="316656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1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— 투표로 함께 정했어요</a:t>
            </a:r>
            <a:endParaRPr lang="en-US" sz="1400" dirty="0"/>
          </a:p>
        </p:txBody>
      </p:sp>
      <p:sp>
        <p:nvSpPr>
          <p:cNvPr id="28" name="Text 23"/>
          <p:cNvSpPr/>
          <p:nvPr/>
        </p:nvSpPr>
        <p:spPr>
          <a:xfrm>
            <a:off x="8092440" y="5111496"/>
            <a:ext cx="316656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6B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확정된 가게와 각자의 경로. 되돌리기·재투표가 있어 결과 화면에서 끝나지 않습니다.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658368" y="63733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AA2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모이머 · 브레인 스파크</a:t>
            </a:r>
            <a:endParaRPr lang="en-US" sz="950" dirty="0"/>
          </a:p>
        </p:txBody>
      </p:sp>
      <p:sp>
        <p:nvSpPr>
          <p:cNvPr id="31" name="Text 25"/>
          <p:cNvSpPr/>
          <p:nvPr/>
        </p:nvSpPr>
        <p:spPr>
          <a:xfrm>
            <a:off x="10618927" y="63733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9AA2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02336"/>
            <a:ext cx="10874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E5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기능 ①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58368" y="676656"/>
            <a:ext cx="108749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41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지도를 누르는 것이 곧 한 표입니다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58368" y="1645920"/>
            <a:ext cx="10874959" cy="932688"/>
          </a:xfrm>
          <a:prstGeom prst="roundRect">
            <a:avLst>
              <a:gd name="adj" fmla="val 13725"/>
            </a:avLst>
          </a:prstGeom>
          <a:solidFill>
            <a:srgbClr val="F4F6FC"/>
          </a:solidFill>
          <a:ln/>
        </p:spPr>
      </p:sp>
      <p:sp>
        <p:nvSpPr>
          <p:cNvPr id="5" name="Shape 3"/>
          <p:cNvSpPr/>
          <p:nvPr/>
        </p:nvSpPr>
        <p:spPr>
          <a:xfrm>
            <a:off x="932688" y="1929384"/>
            <a:ext cx="1051560" cy="365760"/>
          </a:xfrm>
          <a:prstGeom prst="roundRect">
            <a:avLst>
              <a:gd name="adj" fmla="val 42500"/>
            </a:avLst>
          </a:prstGeom>
          <a:solidFill>
            <a:srgbClr val="DDE1EC"/>
          </a:solidFill>
          <a:ln/>
        </p:spPr>
      </p:sp>
      <p:sp>
        <p:nvSpPr>
          <p:cNvPr id="6" name="Text 4"/>
          <p:cNvSpPr/>
          <p:nvPr/>
        </p:nvSpPr>
        <p:spPr>
          <a:xfrm>
            <a:off x="932688" y="1929384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6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흔한 방식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139696" y="178308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A6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 등록  →  투표 시작  →  다시 투표  →  확정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139696" y="2130552"/>
            <a:ext cx="904615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사람에게 “여기 찍어” 다음에 “이제 투표해”를 또 시킵니다. 두 번째가 무엇을 위한 절차인지 설명하기 어렵습니다.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58368" y="2706624"/>
            <a:ext cx="10874959" cy="932688"/>
          </a:xfrm>
          <a:prstGeom prst="roundRect">
            <a:avLst>
              <a:gd name="adj" fmla="val 13725"/>
            </a:avLst>
          </a:prstGeom>
          <a:solidFill>
            <a:srgbClr val="2E5BFF"/>
          </a:solidFill>
          <a:ln/>
        </p:spPr>
      </p:sp>
      <p:sp>
        <p:nvSpPr>
          <p:cNvPr id="10" name="Shape 8"/>
          <p:cNvSpPr/>
          <p:nvPr/>
        </p:nvSpPr>
        <p:spPr>
          <a:xfrm>
            <a:off x="932688" y="2990088"/>
            <a:ext cx="1051560" cy="365760"/>
          </a:xfrm>
          <a:prstGeom prst="roundRect">
            <a:avLst>
              <a:gd name="adj" fmla="val 42500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932688" y="299008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5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모이머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39696" y="2843784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지도를 누른다  →  많이 찍힌 곳이 1위  →  방장이 확정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139696" y="3191256"/>
            <a:ext cx="904615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3DC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단계가 하나 줄었습니다. 참여자는 안 찍어도 되고, 방장은 전원을 기다리지 않고 넘어갈 수 있습니다.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58368" y="38404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표가 갈리지 않게 하는 두 가지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58368" y="4206240"/>
            <a:ext cx="3227832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  <a:effectLst>
            <a:outerShdw sx="100000" sy="100000" kx="0" ky="0" algn="bl" rotWithShape="0" blurRad="127000" dist="25400" dir="5400000">
              <a:srgbClr val="8A93B2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32688" y="4425696"/>
            <a:ext cx="2679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F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가까운 지하철역으로 묶습니다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32688" y="4773168"/>
            <a:ext cx="26791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6B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누른 자리에서 1.2km 안에 역이 있으면 그 역 이름이 되고 핀도 역 위로 옮겨갑니다. “강남구에서 만나자”는 약속이 안 되지만 “강남역에서 만나자”는 약속이 됩니다.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05656" y="4206240"/>
            <a:ext cx="3227832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  <a:effectLst>
            <a:outerShdw sx="100000" sy="100000" kx="0" ky="0" algn="bl" rotWithShape="0" blurRad="127000" dist="25400" dir="5400000">
              <a:srgbClr val="8A93B2">
                <a:alpha val="13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379976" y="4425696"/>
            <a:ext cx="2679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F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곳은 하나로 합칩니다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379976" y="4773168"/>
            <a:ext cx="26791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6B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역을 누른 사람은 한 후보에 모입니다. 내 핑은 1개라 다른 곳을 누르면 그쪽으로 옮겨갑니다.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644384" y="3840480"/>
            <a:ext cx="3888943" cy="1965960"/>
          </a:xfrm>
          <a:prstGeom prst="roundRect">
            <a:avLst>
              <a:gd name="adj" fmla="val 6512"/>
            </a:avLst>
          </a:prstGeom>
          <a:solidFill>
            <a:srgbClr val="141A3C"/>
          </a:solidFill>
          <a:ln/>
        </p:spPr>
      </p:sp>
      <p:sp>
        <p:nvSpPr>
          <p:cNvPr id="22" name="Text 20"/>
          <p:cNvSpPr/>
          <p:nvPr/>
        </p:nvSpPr>
        <p:spPr>
          <a:xfrm>
            <a:off x="7918704" y="4041648"/>
            <a:ext cx="33403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FA3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검증 · 2026-08-11 (실 카카오 키)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918704" y="4407408"/>
            <a:ext cx="3340303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C3CB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사람이 사당역 양쪽 200m를 각각 눌렀을 때
</a:t>
            </a:r>
            <a:pPr indent="0" marL="0">
              <a:lnSpc>
                <a:spcPts val="18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후보 1개로 합쳐짐 · “사당역” · 2명  ✔
</a:t>
            </a:r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C3CB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역이 없는 동네(봉담)를 눌렀을 때
</a:t>
            </a:r>
            <a:pPr indent="0" marL="0">
              <a:lnSpc>
                <a:spcPts val="18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“화성시 효행구” · 억지로 역을 붙이지 않음  ✔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658368" y="63733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AA2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모이머 · 브레인 스파크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10618927" y="63733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9AA2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02336"/>
            <a:ext cx="10874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FA3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기능 ②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58368" y="676656"/>
            <a:ext cx="108749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“공평함”을 한 줄로 정의했습니다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10874959" cy="1078992"/>
          </a:xfrm>
          <a:prstGeom prst="roundRect">
            <a:avLst>
              <a:gd name="adj" fmla="val 13559"/>
            </a:avLst>
          </a:prstGeom>
          <a:solidFill>
            <a:srgbClr val="1E2A5A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1572768"/>
            <a:ext cx="108749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점수  =  최대 이동시간  +  사람 간 편차 × 0.8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58368" y="2139696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FA3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정의는 코드 한 곳에만 있습니다 — 화면마다 다르게 계산되는 일이 없습니다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58368" y="2798064"/>
            <a:ext cx="525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평균이 아니라 최악인가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58368" y="3182112"/>
            <a:ext cx="525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C3CB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평균을 쓰면 3명은 5분, 1명은 90분인 곳이 1위가 됩니다.
</a:t>
            </a:r>
            <a:pPr indent="0" marL="0">
              <a:lnSpc>
                <a:spcPts val="21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모임에서 실제로 문제가 되는 건 가장 오래 걸리는 사람입니다.
</a:t>
            </a:r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C3CB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편차를 더한 것은 “다 같이 조금씩”을 “한 명만 많이”보다 낫게 보기 위해서입니다.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278728" y="2798064"/>
            <a:ext cx="525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계산식보다 후보 목록이 문제였습니다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278728" y="3182112"/>
            <a:ext cx="525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C3CB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노원+의정부 모임에 종로3가를 추천한 적이 있습니다. 계산은 정확했습니다. </a:t>
            </a:r>
            <a:pPr indent="0" marL="0">
              <a:lnSpc>
                <a:spcPts val="21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손으로 고른 후보 28곳에 서울 북부가 통째로 비어 있던 것</a:t>
            </a:r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C3CB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원인이었습니다.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78728" y="4114800"/>
            <a:ext cx="5254600" cy="475488"/>
          </a:xfrm>
          <a:prstGeom prst="roundRect">
            <a:avLst>
              <a:gd name="adj" fmla="val 19231"/>
            </a:avLst>
          </a:prstGeom>
          <a:solidFill>
            <a:srgbClr val="3A2233"/>
          </a:solidFill>
          <a:ln/>
        </p:spPr>
      </p:sp>
      <p:sp>
        <p:nvSpPr>
          <p:cNvPr id="12" name="Text 10"/>
          <p:cNvSpPr/>
          <p:nvPr/>
        </p:nvSpPr>
        <p:spPr>
          <a:xfrm>
            <a:off x="6498184" y="4114800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9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종로3가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851496" y="411480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BD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중심에서 14.8km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978847" y="4114800"/>
            <a:ext cx="13350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최대 98분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78728" y="4681728"/>
            <a:ext cx="5254600" cy="475488"/>
          </a:xfrm>
          <a:prstGeom prst="roundRect">
            <a:avLst>
              <a:gd name="adj" fmla="val 19231"/>
            </a:avLst>
          </a:prstGeom>
          <a:solidFill>
            <a:srgbClr val="163A2C"/>
          </a:solidFill>
          <a:ln/>
        </p:spPr>
      </p:sp>
      <p:sp>
        <p:nvSpPr>
          <p:cNvPr id="16" name="Text 14"/>
          <p:cNvSpPr/>
          <p:nvPr/>
        </p:nvSpPr>
        <p:spPr>
          <a:xfrm>
            <a:off x="6498184" y="4681728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8D6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도봉산역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851496" y="4681728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D6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중심에서 0.9km  ·  실제 정답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978847" y="4681728"/>
            <a:ext cx="13350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최대 32분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58368" y="5577840"/>
            <a:ext cx="1087495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FA3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목록에 없으면 아무리 좋아도 1위가 될 수 없습니다. 그래서 후보를 지도 API의 실제 지하철역으로 바꿨습니다.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58368" y="63733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E77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모이머 · 브레인 스파크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10618927" y="63733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E77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02336"/>
            <a:ext cx="10874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E5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기능 ③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58368" y="676656"/>
            <a:ext cx="108749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41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모르는 값을 아는 척하지 않습니다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58368" y="1627632"/>
            <a:ext cx="10874959" cy="713232"/>
          </a:xfrm>
          <a:prstGeom prst="roundRect">
            <a:avLst>
              <a:gd name="adj" fmla="val 17949"/>
            </a:avLst>
          </a:prstGeom>
          <a:solidFill>
            <a:srgbClr val="FFEDE8"/>
          </a:solidFill>
          <a:ln/>
        </p:spPr>
      </p:sp>
      <p:sp>
        <p:nvSpPr>
          <p:cNvPr id="5" name="Text 3"/>
          <p:cNvSpPr/>
          <p:nvPr/>
        </p:nvSpPr>
        <p:spPr>
          <a:xfrm>
            <a:off x="1024128" y="1627632"/>
            <a:ext cx="101434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2E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API가 “82분 · 0원 · 환승 0회”라는 빈 응답을 줬는데 앱이 그대로 “실시간”이라고 적은 적이 있습니다. </a:t>
            </a:r>
            <a:pPr indent="0" marL="0">
              <a:buNone/>
            </a:pPr>
            <a:r>
              <a:rPr lang="en-US" sz="1300" b="1" dirty="0">
                <a:solidFill>
                  <a:srgbClr val="8C2E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뒤로 정직함을 코드가 강제하게 만들었습니다.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58368" y="2542032"/>
            <a:ext cx="2567864" cy="219456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  <a:effectLst>
            <a:outerShdw sx="100000" sy="100000" kx="0" ky="0" algn="bl" rotWithShape="0" blurRad="127000" dist="25400" dir="5400000">
              <a:srgbClr val="8A93B2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50976" y="2779776"/>
            <a:ext cx="713232" cy="292608"/>
          </a:xfrm>
          <a:prstGeom prst="roundRect">
            <a:avLst>
              <a:gd name="adj" fmla="val 53125"/>
            </a:avLst>
          </a:prstGeom>
          <a:solidFill>
            <a:srgbClr val="E9EDFF"/>
          </a:solidFill>
          <a:ln/>
        </p:spPr>
      </p:sp>
      <p:sp>
        <p:nvSpPr>
          <p:cNvPr id="8" name="Text 6"/>
          <p:cNvSpPr/>
          <p:nvPr/>
        </p:nvSpPr>
        <p:spPr>
          <a:xfrm>
            <a:off x="950976" y="2779776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3F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표시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50976" y="3200400"/>
            <a:ext cx="19826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141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“실시간”을 없앴다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950976" y="3785616"/>
            <a:ext cx="198264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6B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출발 시각을 API에 보내지 않으므로 실제 API 값도 실시간이 아닙니다. “경로 기준” / “거리 추정” 두 단어로 통일.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427400" y="2542032"/>
            <a:ext cx="2567864" cy="219456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  <a:effectLst>
            <a:outerShdw sx="100000" sy="100000" kx="0" ky="0" algn="bl" rotWithShape="0" blurRad="127000" dist="25400" dir="5400000">
              <a:srgbClr val="8A93B2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720008" y="2779776"/>
            <a:ext cx="713232" cy="292608"/>
          </a:xfrm>
          <a:prstGeom prst="roundRect">
            <a:avLst>
              <a:gd name="adj" fmla="val 53125"/>
            </a:avLst>
          </a:prstGeom>
          <a:solidFill>
            <a:srgbClr val="E9EDFF"/>
          </a:solidFill>
          <a:ln/>
        </p:spPr>
      </p:sp>
      <p:sp>
        <p:nvSpPr>
          <p:cNvPr id="13" name="Text 11"/>
          <p:cNvSpPr/>
          <p:nvPr/>
        </p:nvSpPr>
        <p:spPr>
          <a:xfrm>
            <a:off x="3720008" y="2779776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3F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단위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720008" y="3200400"/>
            <a:ext cx="19826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141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 단위로 밝힌다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3720008" y="3785616"/>
            <a:ext cx="198264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6B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실측 3건 + 추정 1건이 섞여 넷 다 “실시간”이던 적이 있습니다. 이제 한 명이라도 추정이 섞이면 배지가 바뀝니다.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96432" y="2542032"/>
            <a:ext cx="2567864" cy="219456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  <a:effectLst>
            <a:outerShdw sx="100000" sy="100000" kx="0" ky="0" algn="bl" rotWithShape="0" blurRad="127000" dist="25400" dir="5400000">
              <a:srgbClr val="8A93B2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89040" y="2779776"/>
            <a:ext cx="713232" cy="292608"/>
          </a:xfrm>
          <a:prstGeom prst="roundRect">
            <a:avLst>
              <a:gd name="adj" fmla="val 53125"/>
            </a:avLst>
          </a:prstGeom>
          <a:solidFill>
            <a:srgbClr val="E9EDFF"/>
          </a:solidFill>
          <a:ln/>
        </p:spPr>
      </p:sp>
      <p:sp>
        <p:nvSpPr>
          <p:cNvPr id="18" name="Text 16"/>
          <p:cNvSpPr/>
          <p:nvPr/>
        </p:nvSpPr>
        <p:spPr>
          <a:xfrm>
            <a:off x="6489040" y="2779776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3F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별점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89040" y="3200400"/>
            <a:ext cx="19826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141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가짜 별점을 지웠다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489040" y="3785616"/>
            <a:ext cx="198264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6B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데모용 4.3~4.7을 삭제하고 0 = “정보 없음”이라는 규약을 세웠습니다. 별이 없으면 안 그립니다.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965463" y="2542032"/>
            <a:ext cx="2567864" cy="219456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  <a:effectLst>
            <a:outerShdw sx="100000" sy="100000" kx="0" ky="0" algn="bl" rotWithShape="0" blurRad="127000" dist="25400" dir="5400000">
              <a:srgbClr val="8A93B2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258071" y="2779776"/>
            <a:ext cx="713232" cy="292608"/>
          </a:xfrm>
          <a:prstGeom prst="roundRect">
            <a:avLst>
              <a:gd name="adj" fmla="val 53125"/>
            </a:avLst>
          </a:prstGeom>
          <a:solidFill>
            <a:srgbClr val="E9EDFF"/>
          </a:solidFill>
          <a:ln/>
        </p:spPr>
      </p:sp>
      <p:sp>
        <p:nvSpPr>
          <p:cNvPr id="23" name="Text 21"/>
          <p:cNvSpPr/>
          <p:nvPr/>
        </p:nvSpPr>
        <p:spPr>
          <a:xfrm>
            <a:off x="9258071" y="2779776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3F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경로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258071" y="3200400"/>
            <a:ext cx="19826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141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직선은 직선이라 한다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9258071" y="3785616"/>
            <a:ext cx="198264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6B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경로선이 직선 근사면 점선으로 그리고 그렇다고 적습니다. 결과 버튼도 “예약하기”가 아니라 “메뉴 보기”입니다.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58368" y="4956048"/>
            <a:ext cx="10874959" cy="868680"/>
          </a:xfrm>
          <a:prstGeom prst="roundRect">
            <a:avLst>
              <a:gd name="adj" fmla="val 14737"/>
            </a:avLst>
          </a:prstGeom>
          <a:solidFill>
            <a:srgbClr val="141A3C"/>
          </a:solidFill>
          <a:ln/>
        </p:spPr>
      </p:sp>
      <p:sp>
        <p:nvSpPr>
          <p:cNvPr id="27" name="Text 25"/>
          <p:cNvSpPr/>
          <p:nvPr/>
        </p:nvSpPr>
        <p:spPr>
          <a:xfrm>
            <a:off x="1024128" y="4956048"/>
            <a:ext cx="1014343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키가 하나도 없어도 전체 흐름이 끝까지 돕니다. 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C3CB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API 4종 모두 대체 동작이 있어 팀원이 키 없이 개발·시연할 수 있습니다. 다만 </a:t>
            </a:r>
            <a:pPr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FFB3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대체 동작으로 나온 값은 절대 실제인 척하지 않습니다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C3CB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이 둘이 같이 지켜져야 의미가 있습니다.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658368" y="63733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AA2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모이머 · 브레인 스파크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10618927" y="63733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9AA2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02336"/>
            <a:ext cx="10874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E5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중간발표 이후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58368" y="676656"/>
            <a:ext cx="108749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41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일주일 동안 달라진 것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58368" y="1280160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8/14 중간발표 → 8/21 최종발표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58368" y="1783080"/>
            <a:ext cx="5327752" cy="1170432"/>
          </a:xfrm>
          <a:prstGeom prst="roundRect">
            <a:avLst>
              <a:gd name="adj" fmla="val 10938"/>
            </a:avLst>
          </a:prstGeom>
          <a:solidFill>
            <a:srgbClr val="2E5BFF"/>
          </a:solidFill>
          <a:ln/>
        </p:spPr>
      </p:sp>
      <p:sp>
        <p:nvSpPr>
          <p:cNvPr id="6" name="Shape 4"/>
          <p:cNvSpPr/>
          <p:nvPr/>
        </p:nvSpPr>
        <p:spPr>
          <a:xfrm>
            <a:off x="932688" y="2167128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932688" y="21671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5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81328" y="1984248"/>
            <a:ext cx="3133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Vercel 배포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687672" y="2020824"/>
            <a:ext cx="1024128" cy="274320"/>
          </a:xfrm>
          <a:prstGeom prst="roundRect">
            <a:avLst>
              <a:gd name="adj" fmla="val 56667"/>
            </a:avLst>
          </a:prstGeom>
          <a:solidFill>
            <a:srgbClr val="1B3FCC"/>
          </a:solidFill>
          <a:ln/>
        </p:spPr>
      </p:sp>
      <p:sp>
        <p:nvSpPr>
          <p:cNvPr id="10" name="Text 8"/>
          <p:cNvSpPr/>
          <p:nvPr/>
        </p:nvSpPr>
        <p:spPr>
          <a:xfrm>
            <a:off x="4687672" y="2020824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6D2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큰 변화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481328" y="2350008"/>
            <a:ext cx="4230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D3DC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노트북 LAN 시연 → 인터넷 어디서나. 청중이 자기 폰으로 직접 들어옵니다.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58368" y="3108960"/>
            <a:ext cx="5327752" cy="1170432"/>
          </a:xfrm>
          <a:prstGeom prst="roundRect">
            <a:avLst>
              <a:gd name="adj" fmla="val 10938"/>
            </a:avLst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  <a:effectLst>
            <a:outerShdw sx="100000" sy="100000" kx="0" ky="0" algn="bl" rotWithShape="0" blurRad="127000" dist="25400" dir="5400000">
              <a:srgbClr val="8A93B2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32688" y="3493008"/>
            <a:ext cx="402336" cy="402336"/>
          </a:xfrm>
          <a:prstGeom prst="ellipse">
            <a:avLst/>
          </a:prstGeom>
          <a:solidFill>
            <a:srgbClr val="E9EDFF"/>
          </a:solidFill>
          <a:ln/>
        </p:spPr>
      </p:sp>
      <p:sp>
        <p:nvSpPr>
          <p:cNvPr id="14" name="Text 12"/>
          <p:cNvSpPr/>
          <p:nvPr/>
        </p:nvSpPr>
        <p:spPr>
          <a:xfrm>
            <a:off x="932688" y="34930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F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81328" y="3310128"/>
            <a:ext cx="3133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 첫 화면 지도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481328" y="3675888"/>
            <a:ext cx="4230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6B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출발지를 넣기 전에도 지도가 보입니다. 빈 화면이 첫인상이던 문제를 없앴습니다.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58368" y="4434840"/>
            <a:ext cx="5327752" cy="1170432"/>
          </a:xfrm>
          <a:prstGeom prst="roundRect">
            <a:avLst>
              <a:gd name="adj" fmla="val 10938"/>
            </a:avLst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  <a:effectLst>
            <a:outerShdw sx="100000" sy="100000" kx="0" ky="0" algn="bl" rotWithShape="0" blurRad="127000" dist="25400" dir="5400000">
              <a:srgbClr val="8A93B2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32688" y="4818888"/>
            <a:ext cx="402336" cy="402336"/>
          </a:xfrm>
          <a:prstGeom prst="ellipse">
            <a:avLst/>
          </a:prstGeom>
          <a:solidFill>
            <a:srgbClr val="E9EDFF"/>
          </a:solidFill>
          <a:ln/>
        </p:spPr>
      </p:sp>
      <p:sp>
        <p:nvSpPr>
          <p:cNvPr id="19" name="Text 17"/>
          <p:cNvSpPr/>
          <p:nvPr/>
        </p:nvSpPr>
        <p:spPr>
          <a:xfrm>
            <a:off x="932688" y="48188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F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481328" y="4636008"/>
            <a:ext cx="3133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시연 영상 자동 촬영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687672" y="4672584"/>
            <a:ext cx="1024128" cy="274320"/>
          </a:xfrm>
          <a:prstGeom prst="roundRect">
            <a:avLst>
              <a:gd name="adj" fmla="val 56667"/>
            </a:avLst>
          </a:prstGeom>
          <a:solidFill>
            <a:srgbClr val="FFF4DF"/>
          </a:solidFill>
          <a:ln/>
        </p:spPr>
      </p:sp>
      <p:sp>
        <p:nvSpPr>
          <p:cNvPr id="22" name="Text 20"/>
          <p:cNvSpPr/>
          <p:nvPr/>
        </p:nvSpPr>
        <p:spPr>
          <a:xfrm>
            <a:off x="4687672" y="4672584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893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대비책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481328" y="5001768"/>
            <a:ext cx="4230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6B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npm run demo — 발표 시나리오를 브라우저가 대신 눌러 영상으로 남깁니다. 네트워크가 죽어도 보여줄 수 있습니다.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05576" y="1783080"/>
            <a:ext cx="5327752" cy="1170432"/>
          </a:xfrm>
          <a:prstGeom prst="roundRect">
            <a:avLst>
              <a:gd name="adj" fmla="val 10938"/>
            </a:avLst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  <a:effectLst>
            <a:outerShdw sx="100000" sy="100000" kx="0" ky="0" algn="bl" rotWithShape="0" blurRad="127000" dist="25400" dir="5400000">
              <a:srgbClr val="8A93B2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79896" y="2167128"/>
            <a:ext cx="402336" cy="402336"/>
          </a:xfrm>
          <a:prstGeom prst="ellipse">
            <a:avLst/>
          </a:prstGeom>
          <a:solidFill>
            <a:srgbClr val="E9EDFF"/>
          </a:solidFill>
          <a:ln/>
        </p:spPr>
      </p:sp>
      <p:sp>
        <p:nvSpPr>
          <p:cNvPr id="26" name="Text 24"/>
          <p:cNvSpPr/>
          <p:nvPr/>
        </p:nvSpPr>
        <p:spPr>
          <a:xfrm>
            <a:off x="6479896" y="21671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F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028536" y="1984248"/>
            <a:ext cx="3133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 스냅 실 키 검증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028536" y="2350008"/>
            <a:ext cx="4230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6B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키가 있어야만 검증되는 계약이라 전용 점검 스크립트를 만들어 사당역·봉담으로 확인했습니다.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205576" y="3108960"/>
            <a:ext cx="5327752" cy="1170432"/>
          </a:xfrm>
          <a:prstGeom prst="roundRect">
            <a:avLst>
              <a:gd name="adj" fmla="val 10938"/>
            </a:avLst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  <a:effectLst>
            <a:outerShdw sx="100000" sy="100000" kx="0" ky="0" algn="bl" rotWithShape="0" blurRad="127000" dist="25400" dir="5400000">
              <a:srgbClr val="8A93B2">
                <a:alpha val="13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79896" y="3493008"/>
            <a:ext cx="402336" cy="402336"/>
          </a:xfrm>
          <a:prstGeom prst="ellipse">
            <a:avLst/>
          </a:prstGeom>
          <a:solidFill>
            <a:srgbClr val="E9EDFF"/>
          </a:solidFill>
          <a:ln/>
        </p:spPr>
      </p:sp>
      <p:sp>
        <p:nvSpPr>
          <p:cNvPr id="31" name="Text 29"/>
          <p:cNvSpPr/>
          <p:nvPr/>
        </p:nvSpPr>
        <p:spPr>
          <a:xfrm>
            <a:off x="6479896" y="34930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F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028536" y="3310128"/>
            <a:ext cx="3133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CI 두 벌 통과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028536" y="3675888"/>
            <a:ext cx="4230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6B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스위치를 끈 판/켠 판을 각각 돌립니다. 안 돌려보는 기능은 죽은 코드입니다.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205576" y="4434840"/>
            <a:ext cx="5327752" cy="1170432"/>
          </a:xfrm>
          <a:prstGeom prst="roundRect">
            <a:avLst>
              <a:gd name="adj" fmla="val 10938"/>
            </a:avLst>
          </a:prstGeom>
          <a:solidFill>
            <a:srgbClr val="F4F6FC"/>
          </a:solidFill>
          <a:ln/>
        </p:spPr>
      </p:sp>
      <p:sp>
        <p:nvSpPr>
          <p:cNvPr id="35" name="Text 33"/>
          <p:cNvSpPr/>
          <p:nvPr/>
        </p:nvSpPr>
        <p:spPr>
          <a:xfrm>
            <a:off x="6479896" y="4553712"/>
            <a:ext cx="4779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남은 것은 발표 리허설뿐입니다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479896" y="4901184"/>
            <a:ext cx="4779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6B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배포본으로 4명이 실제 폰에서 한 번 완주 · 발표장 Wi-Fi 확인 · 영상 대비책 재생 점검</a:t>
            </a:r>
            <a:endParaRPr lang="en-US" sz="1150" dirty="0"/>
          </a:p>
        </p:txBody>
      </p:sp>
      <p:sp>
        <p:nvSpPr>
          <p:cNvPr id="38" name="Text 35"/>
          <p:cNvSpPr/>
          <p:nvPr/>
        </p:nvSpPr>
        <p:spPr>
          <a:xfrm>
            <a:off x="658368" y="63733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AA2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모이머 · 브레인 스파크</a:t>
            </a:r>
            <a:endParaRPr lang="en-US" sz="950" dirty="0"/>
          </a:p>
        </p:txBody>
      </p:sp>
      <p:sp>
        <p:nvSpPr>
          <p:cNvPr id="39" name="Text 36"/>
          <p:cNvSpPr/>
          <p:nvPr/>
        </p:nvSpPr>
        <p:spPr>
          <a:xfrm>
            <a:off x="10618927" y="63733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9AA2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02336"/>
            <a:ext cx="10874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FA3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완성도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58368" y="676656"/>
            <a:ext cx="108749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숫자로 본 지금 상태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58368" y="1572768"/>
            <a:ext cx="3466490" cy="1572768"/>
          </a:xfrm>
          <a:prstGeom prst="roundRect">
            <a:avLst>
              <a:gd name="adj" fmla="val 9302"/>
            </a:avLst>
          </a:prstGeom>
          <a:solidFill>
            <a:srgbClr val="1E2A5A"/>
          </a:solidFill>
          <a:ln/>
        </p:spPr>
      </p:sp>
      <p:sp>
        <p:nvSpPr>
          <p:cNvPr id="5" name="Text 3"/>
          <p:cNvSpPr/>
          <p:nvPr/>
        </p:nvSpPr>
        <p:spPr>
          <a:xfrm>
            <a:off x="987552" y="1792224"/>
            <a:ext cx="280812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11/11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87552" y="2487168"/>
            <a:ext cx="28081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FA3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화면 구현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87552" y="2761488"/>
            <a:ext cx="280812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7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v19 설계서 기준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62602" y="1572768"/>
            <a:ext cx="3466490" cy="1572768"/>
          </a:xfrm>
          <a:prstGeom prst="roundRect">
            <a:avLst>
              <a:gd name="adj" fmla="val 9302"/>
            </a:avLst>
          </a:prstGeom>
          <a:solidFill>
            <a:srgbClr val="1E2A5A"/>
          </a:solidFill>
          <a:ln/>
        </p:spPr>
      </p:sp>
      <p:sp>
        <p:nvSpPr>
          <p:cNvPr id="9" name="Text 7"/>
          <p:cNvSpPr/>
          <p:nvPr/>
        </p:nvSpPr>
        <p:spPr>
          <a:xfrm>
            <a:off x="4691786" y="1792224"/>
            <a:ext cx="280812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78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691786" y="2487168"/>
            <a:ext cx="28081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FA3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브라우저 자동 테스트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691786" y="2761488"/>
            <a:ext cx="280812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7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 검사 305개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066837" y="1572768"/>
            <a:ext cx="3466490" cy="1572768"/>
          </a:xfrm>
          <a:prstGeom prst="roundRect">
            <a:avLst>
              <a:gd name="adj" fmla="val 9302"/>
            </a:avLst>
          </a:prstGeom>
          <a:solidFill>
            <a:srgbClr val="1E2A5A"/>
          </a:solidFill>
          <a:ln/>
        </p:spPr>
      </p:sp>
      <p:sp>
        <p:nvSpPr>
          <p:cNvPr id="13" name="Text 11"/>
          <p:cNvSpPr/>
          <p:nvPr/>
        </p:nvSpPr>
        <p:spPr>
          <a:xfrm>
            <a:off x="8396021" y="1792224"/>
            <a:ext cx="280812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4대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8396021" y="2487168"/>
            <a:ext cx="28081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FA3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기기 동시 리허설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396021" y="2761488"/>
            <a:ext cx="280812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7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판정 15개 통과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58368" y="3383280"/>
            <a:ext cx="3466490" cy="1572768"/>
          </a:xfrm>
          <a:prstGeom prst="roundRect">
            <a:avLst>
              <a:gd name="adj" fmla="val 9302"/>
            </a:avLst>
          </a:prstGeom>
          <a:solidFill>
            <a:srgbClr val="1E2A5A"/>
          </a:solidFill>
          <a:ln/>
        </p:spPr>
      </p:sp>
      <p:sp>
        <p:nvSpPr>
          <p:cNvPr id="17" name="Text 15"/>
          <p:cNvSpPr/>
          <p:nvPr/>
        </p:nvSpPr>
        <p:spPr>
          <a:xfrm>
            <a:off x="987552" y="3602736"/>
            <a:ext cx="280812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29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987552" y="4297680"/>
            <a:ext cx="28081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FA3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동작 종류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87552" y="4572000"/>
            <a:ext cx="280812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7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창구 1곳으로 통일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362602" y="3383280"/>
            <a:ext cx="3466490" cy="1572768"/>
          </a:xfrm>
          <a:prstGeom prst="roundRect">
            <a:avLst>
              <a:gd name="adj" fmla="val 9302"/>
            </a:avLst>
          </a:prstGeom>
          <a:solidFill>
            <a:srgbClr val="1E2A5A"/>
          </a:solidFill>
          <a:ln/>
        </p:spPr>
      </p:sp>
      <p:sp>
        <p:nvSpPr>
          <p:cNvPr id="21" name="Text 19"/>
          <p:cNvSpPr/>
          <p:nvPr/>
        </p:nvSpPr>
        <p:spPr>
          <a:xfrm>
            <a:off x="4691786" y="3602736"/>
            <a:ext cx="280812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18,324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4691786" y="4297680"/>
            <a:ext cx="28081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FA3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줄 수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691786" y="4572000"/>
            <a:ext cx="280812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7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소스 파일 92개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066837" y="3383280"/>
            <a:ext cx="3466490" cy="1572768"/>
          </a:xfrm>
          <a:prstGeom prst="roundRect">
            <a:avLst>
              <a:gd name="adj" fmla="val 9302"/>
            </a:avLst>
          </a:prstGeom>
          <a:solidFill>
            <a:srgbClr val="1E2A5A"/>
          </a:solidFill>
          <a:ln/>
        </p:spPr>
      </p:sp>
      <p:sp>
        <p:nvSpPr>
          <p:cNvPr id="25" name="Text 23"/>
          <p:cNvSpPr/>
          <p:nvPr/>
        </p:nvSpPr>
        <p:spPr>
          <a:xfrm>
            <a:off x="8396021" y="3602736"/>
            <a:ext cx="280812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120</a:t>
            </a:r>
            <a:endParaRPr lang="en-US" sz="4000" dirty="0"/>
          </a:p>
        </p:txBody>
      </p:sp>
      <p:sp>
        <p:nvSpPr>
          <p:cNvPr id="26" name="Text 24"/>
          <p:cNvSpPr/>
          <p:nvPr/>
        </p:nvSpPr>
        <p:spPr>
          <a:xfrm>
            <a:off x="8396021" y="4297680"/>
            <a:ext cx="28081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FA3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커밋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396021" y="4572000"/>
            <a:ext cx="280812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7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팀원 4명 · 3주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58368" y="5138928"/>
            <a:ext cx="1087495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58D6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되는 것: </a:t>
            </a:r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C3CB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모임 생성 → 초대 링크 → 참여 → 지역 투표 → 확정 → 가게 투표 → 결과 전 구간 완주 · 4명이 동시에 눌러도 표가 유실되지 않음 · 지도·경로 API 키가 없어도 전체 흐름 동작</a:t>
            </a:r>
            <a:endParaRPr lang="en-US" sz="1250" dirty="0"/>
          </a:p>
        </p:txBody>
      </p:sp>
      <p:sp>
        <p:nvSpPr>
          <p:cNvPr id="30" name="Text 27"/>
          <p:cNvSpPr/>
          <p:nvPr/>
        </p:nvSpPr>
        <p:spPr>
          <a:xfrm>
            <a:off x="658368" y="63733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E77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모이머 · 브레인 스파크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10618927" y="63733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E77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02336"/>
            <a:ext cx="10874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E5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구조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58368" y="676656"/>
            <a:ext cx="108749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41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단순하게 — 대신 규칙을 지킵니다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58368" y="16459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5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스택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58368" y="1993392"/>
            <a:ext cx="5394960" cy="2761488"/>
          </a:xfrm>
          <a:prstGeom prst="roundRect">
            <a:avLst>
              <a:gd name="adj" fmla="val 4636"/>
            </a:avLst>
          </a:prstGeom>
          <a:solidFill>
            <a:srgbClr val="F4F6FC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" y="2157984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F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755648" y="2157984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C44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Next.js 14 App Router · TypeScript · 순수 CSS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50976" y="2587752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F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755648" y="2587752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C44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useState + 1.8초 폴링 (상태관리 라이브러리 없음)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50976" y="3017520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F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755648" y="301752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C44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Next.js API Routes · 창구 1곳으로 동작 29종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50976" y="3447288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F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755648" y="344728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C44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Neon PostgreSQL · 키 없으면 인메모리로 자동 전환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50976" y="3877056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F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755648" y="387705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C44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카카오맵·로컬 · ODsay(대중교통) · TMAP(자차)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50976" y="4306824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F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755648" y="4306824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C44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Vercel · PWA → 안드로이드 APK 포장 가능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37376" y="1645920"/>
            <a:ext cx="50959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5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지켜야 살아남는 규칙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37376" y="1993392"/>
            <a:ext cx="5095951" cy="621792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  <a:effectLst>
            <a:outerShdw sx="100000" sy="100000" kx="0" ky="0" algn="bl" rotWithShape="0" blurRad="127000" dist="25400" dir="5400000">
              <a:srgbClr val="8A93B2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656832" y="2139696"/>
            <a:ext cx="329184" cy="329184"/>
          </a:xfrm>
          <a:prstGeom prst="ellipse">
            <a:avLst/>
          </a:prstGeom>
          <a:solidFill>
            <a:srgbClr val="E9EDFF"/>
          </a:solidFill>
          <a:ln/>
        </p:spPr>
      </p:sp>
      <p:sp>
        <p:nvSpPr>
          <p:cNvPr id="21" name="Text 19"/>
          <p:cNvSpPr/>
          <p:nvPr/>
        </p:nvSpPr>
        <p:spPr>
          <a:xfrm>
            <a:off x="6656832" y="21396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F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095744" y="2066544"/>
            <a:ext cx="418155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화면은 DB를 직접 부르지 않는다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095744" y="2313432"/>
            <a:ext cx="418155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항상 서버 창구를 거친다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437376" y="2706624"/>
            <a:ext cx="5095951" cy="621792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  <a:effectLst>
            <a:outerShdw sx="100000" sy="100000" kx="0" ky="0" algn="bl" rotWithShape="0" blurRad="127000" dist="25400" dir="5400000">
              <a:srgbClr val="8A93B2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656832" y="2852928"/>
            <a:ext cx="329184" cy="329184"/>
          </a:xfrm>
          <a:prstGeom prst="ellipse">
            <a:avLst/>
          </a:prstGeom>
          <a:solidFill>
            <a:srgbClr val="E9EDFF"/>
          </a:solidFill>
          <a:ln/>
        </p:spPr>
      </p:sp>
      <p:sp>
        <p:nvSpPr>
          <p:cNvPr id="26" name="Text 24"/>
          <p:cNvSpPr/>
          <p:nvPr/>
        </p:nvSpPr>
        <p:spPr>
          <a:xfrm>
            <a:off x="6656832" y="28529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F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095744" y="2779776"/>
            <a:ext cx="418155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 단위를 쪼갠다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095744" y="3026664"/>
            <a:ext cx="418155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모임 / 참가자 / 표 한 장. 한 행에 담으면 동시 투표에 표가 사라진다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437376" y="3419856"/>
            <a:ext cx="5095951" cy="621792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  <a:effectLst>
            <a:outerShdw sx="100000" sy="100000" kx="0" ky="0" algn="bl" rotWithShape="0" blurRad="127000" dist="25400" dir="5400000">
              <a:srgbClr val="8A93B2">
                <a:alpha val="13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656832" y="3566160"/>
            <a:ext cx="329184" cy="329184"/>
          </a:xfrm>
          <a:prstGeom prst="ellipse">
            <a:avLst/>
          </a:prstGeom>
          <a:solidFill>
            <a:srgbClr val="E9EDFF"/>
          </a:solidFill>
          <a:ln/>
        </p:spPr>
      </p:sp>
      <p:sp>
        <p:nvSpPr>
          <p:cNvPr id="31" name="Text 29"/>
          <p:cNvSpPr/>
          <p:nvPr/>
        </p:nvSpPr>
        <p:spPr>
          <a:xfrm>
            <a:off x="6656832" y="3566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F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095744" y="3493008"/>
            <a:ext cx="418155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성공값만 캐시한다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7095744" y="3739896"/>
            <a:ext cx="418155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폴백을 캐시하면 나중에 키를 넣어도 계속 가짜가 나온다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437376" y="4133088"/>
            <a:ext cx="5095951" cy="621792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  <a:effectLst>
            <a:outerShdw sx="100000" sy="100000" kx="0" ky="0" algn="bl" rotWithShape="0" blurRad="127000" dist="25400" dir="5400000">
              <a:srgbClr val="8A93B2">
                <a:alpha val="13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656832" y="4279392"/>
            <a:ext cx="329184" cy="329184"/>
          </a:xfrm>
          <a:prstGeom prst="ellipse">
            <a:avLst/>
          </a:prstGeom>
          <a:solidFill>
            <a:srgbClr val="E9EDFF"/>
          </a:solidFill>
          <a:ln/>
        </p:spPr>
      </p:sp>
      <p:sp>
        <p:nvSpPr>
          <p:cNvPr id="36" name="Text 34"/>
          <p:cNvSpPr/>
          <p:nvPr/>
        </p:nvSpPr>
        <p:spPr>
          <a:xfrm>
            <a:off x="6656832" y="42793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F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095744" y="4206240"/>
            <a:ext cx="418155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만드는 중인 기능은 스위치 뒤에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7095744" y="4453128"/>
            <a:ext cx="418155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절반만 된 상태로 합쳐도 남의 화면이 안 깨진다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58368" y="5010912"/>
            <a:ext cx="10874959" cy="804672"/>
          </a:xfrm>
          <a:prstGeom prst="roundRect">
            <a:avLst>
              <a:gd name="adj" fmla="val 15909"/>
            </a:avLst>
          </a:prstGeom>
          <a:solidFill>
            <a:srgbClr val="141A3C"/>
          </a:solidFill>
          <a:ln/>
        </p:spPr>
      </p:sp>
      <p:sp>
        <p:nvSpPr>
          <p:cNvPr id="40" name="Text 38"/>
          <p:cNvSpPr/>
          <p:nvPr/>
        </p:nvSpPr>
        <p:spPr>
          <a:xfrm>
            <a:off x="1024128" y="5010912"/>
            <a:ext cx="10143439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협업 — </a:t>
            </a:r>
            <a:pPr indent="0" marL="0">
              <a:buNone/>
            </a:pPr>
            <a:r>
              <a:rPr lang="en-US" sz="1250" dirty="0">
                <a:solidFill>
                  <a:srgbClr val="C3CB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공용 파일 10개는 통합 담당자 소유(GitHub이 리뷰를 강제) · 한 파일 400줄 상한 · 기능 스위치는 상수가 아니라 환경변수로</a:t>
            </a:r>
            <a:endParaRPr lang="en-US" sz="1250" dirty="0"/>
          </a:p>
        </p:txBody>
      </p:sp>
      <p:sp>
        <p:nvSpPr>
          <p:cNvPr id="42" name="Text 39"/>
          <p:cNvSpPr/>
          <p:nvPr/>
        </p:nvSpPr>
        <p:spPr>
          <a:xfrm>
            <a:off x="658368" y="63733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AA2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모이머 · 브레인 스파크</a:t>
            </a:r>
            <a:endParaRPr lang="en-US" sz="950" dirty="0"/>
          </a:p>
        </p:txBody>
      </p:sp>
      <p:sp>
        <p:nvSpPr>
          <p:cNvPr id="43" name="Text 40"/>
          <p:cNvSpPr/>
          <p:nvPr/>
        </p:nvSpPr>
        <p:spPr>
          <a:xfrm>
            <a:off x="10618927" y="63733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9AA2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02336"/>
            <a:ext cx="10874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E5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체계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58368" y="676656"/>
            <a:ext cx="108749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41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“빌드가 통과했다”를 믿지 않습니다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58368" y="1572768"/>
            <a:ext cx="108749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타입검사도 빌드도 통과했는데 모임 화면이 통째로 하얗게 뜬 적이 있습니다. </a:t>
            </a:r>
            <a:pPr indent="0" marL="0">
              <a:buNone/>
            </a:pPr>
            <a:r>
              <a:rPr lang="en-US" sz="1300" b="1" dirty="0">
                <a:solidFill>
                  <a:srgbClr val="141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사고 하나가 저희 검증 원칙 “눈 · 버튼 · 로그 3관점”을 만들었습니다.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58368" y="2103120"/>
            <a:ext cx="3490874" cy="2487168"/>
          </a:xfrm>
          <a:prstGeom prst="roundRect">
            <a:avLst>
              <a:gd name="adj" fmla="val 5147"/>
            </a:avLst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  <a:effectLst>
            <a:outerShdw sx="100000" sy="100000" kx="0" ky="0" algn="bl" rotWithShape="0" blurRad="127000" dist="25400" dir="5400000">
              <a:srgbClr val="8A93B2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9264" y="2359152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2E5BFF"/>
          </a:solidFill>
          <a:ln/>
        </p:spPr>
      </p:sp>
      <p:sp>
        <p:nvSpPr>
          <p:cNvPr id="7" name="Text 5"/>
          <p:cNvSpPr/>
          <p:nvPr/>
        </p:nvSpPr>
        <p:spPr>
          <a:xfrm>
            <a:off x="969264" y="2359152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1층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69264" y="2798064"/>
            <a:ext cx="28690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커밋 전 관문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69264" y="3200400"/>
            <a:ext cx="286908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6B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타입검사 → 빌드 → 실제 브라우저로 클릭. 개발 서버가 아니라 빌드 결과물을 띄웁니다.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969264" y="4187952"/>
            <a:ext cx="2869082" cy="310896"/>
          </a:xfrm>
          <a:prstGeom prst="roundRect">
            <a:avLst>
              <a:gd name="adj" fmla="val 50000"/>
            </a:avLst>
          </a:prstGeom>
          <a:solidFill>
            <a:srgbClr val="F4F6FC"/>
          </a:solidFill>
          <a:ln/>
        </p:spPr>
      </p:sp>
      <p:sp>
        <p:nvSpPr>
          <p:cNvPr id="11" name="Text 9"/>
          <p:cNvSpPr/>
          <p:nvPr/>
        </p:nvSpPr>
        <p:spPr>
          <a:xfrm>
            <a:off x="969264" y="4187952"/>
            <a:ext cx="286908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3F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 78개 · 조건 검사 305개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350410" y="2103120"/>
            <a:ext cx="3490874" cy="2487168"/>
          </a:xfrm>
          <a:prstGeom prst="roundRect">
            <a:avLst>
              <a:gd name="adj" fmla="val 5147"/>
            </a:avLst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  <a:effectLst>
            <a:outerShdw sx="100000" sy="100000" kx="0" ky="0" algn="bl" rotWithShape="0" blurRad="127000" dist="25400" dir="5400000">
              <a:srgbClr val="8A93B2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1306" y="2359152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2E5BFF"/>
          </a:solidFill>
          <a:ln/>
        </p:spPr>
      </p:sp>
      <p:sp>
        <p:nvSpPr>
          <p:cNvPr id="14" name="Text 12"/>
          <p:cNvSpPr/>
          <p:nvPr/>
        </p:nvSpPr>
        <p:spPr>
          <a:xfrm>
            <a:off x="4661306" y="2359152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2층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661306" y="2798064"/>
            <a:ext cx="28690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 CI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661306" y="3200400"/>
            <a:ext cx="286908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6B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PR마다 스위치 끈 판 / 켠 판 2벌. 안 돌려보는 기능은 “켤 수 있어 보이는 죽은 코드”입니다. 키를 일부러 안 넣습니다.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661306" y="4187952"/>
            <a:ext cx="2869082" cy="310896"/>
          </a:xfrm>
          <a:prstGeom prst="roundRect">
            <a:avLst>
              <a:gd name="adj" fmla="val 50000"/>
            </a:avLst>
          </a:prstGeom>
          <a:solidFill>
            <a:srgbClr val="F4F6FC"/>
          </a:solidFill>
          <a:ln/>
        </p:spPr>
      </p:sp>
      <p:sp>
        <p:nvSpPr>
          <p:cNvPr id="18" name="Text 16"/>
          <p:cNvSpPr/>
          <p:nvPr/>
        </p:nvSpPr>
        <p:spPr>
          <a:xfrm>
            <a:off x="4661306" y="4187952"/>
            <a:ext cx="286908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3F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 1건당 테스트 156회 실행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042453" y="2103120"/>
            <a:ext cx="3490874" cy="2487168"/>
          </a:xfrm>
          <a:prstGeom prst="roundRect">
            <a:avLst>
              <a:gd name="adj" fmla="val 5147"/>
            </a:avLst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  <a:effectLst>
            <a:outerShdw sx="100000" sy="100000" kx="0" ky="0" algn="bl" rotWithShape="0" blurRad="127000" dist="25400" dir="5400000">
              <a:srgbClr val="8A93B2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353349" y="2359152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2E5BFF"/>
          </a:solidFill>
          <a:ln/>
        </p:spPr>
      </p:sp>
      <p:sp>
        <p:nvSpPr>
          <p:cNvPr id="21" name="Text 19"/>
          <p:cNvSpPr/>
          <p:nvPr/>
        </p:nvSpPr>
        <p:spPr>
          <a:xfrm>
            <a:off x="8353349" y="2359152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3층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353349" y="2798064"/>
            <a:ext cx="28690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4대 기기 리허설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353349" y="3200400"/>
            <a:ext cx="286908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6B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브라우저 4개를 독립된 기기로 띄워 발표 시나리오를 통째로 리허설. “4명이 각자 등록됐는가”를 셉니다.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353349" y="4187952"/>
            <a:ext cx="2869082" cy="310896"/>
          </a:xfrm>
          <a:prstGeom prst="roundRect">
            <a:avLst>
              <a:gd name="adj" fmla="val 50000"/>
            </a:avLst>
          </a:prstGeom>
          <a:solidFill>
            <a:srgbClr val="F4F6FC"/>
          </a:solidFill>
          <a:ln/>
        </p:spPr>
      </p:sp>
      <p:sp>
        <p:nvSpPr>
          <p:cNvPr id="25" name="Text 23"/>
          <p:cNvSpPr/>
          <p:nvPr/>
        </p:nvSpPr>
        <p:spPr>
          <a:xfrm>
            <a:off x="8353349" y="4187952"/>
            <a:ext cx="286908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3F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판정 15개 · 스크린샷 16장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58368" y="4828032"/>
            <a:ext cx="5327752" cy="987552"/>
          </a:xfrm>
          <a:prstGeom prst="roundRect">
            <a:avLst>
              <a:gd name="adj" fmla="val 12963"/>
            </a:avLst>
          </a:prstGeom>
          <a:solidFill>
            <a:srgbClr val="F4F6FC"/>
          </a:solidFill>
          <a:ln/>
        </p:spPr>
      </p:sp>
      <p:sp>
        <p:nvSpPr>
          <p:cNvPr id="27" name="Text 25"/>
          <p:cNvSpPr/>
          <p:nvPr/>
        </p:nvSpPr>
        <p:spPr>
          <a:xfrm>
            <a:off x="950976" y="4974336"/>
            <a:ext cx="4742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검증이 정말 잡는지도 확인했습니다.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950976" y="5248656"/>
            <a:ext cx="47425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B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일부러 화면을 깨뜨리고 돌린 출력이 문서에 남아 있습니다 — “빌드 통과 / 브라우저 테스트만 실패”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05576" y="4828032"/>
            <a:ext cx="5327752" cy="987552"/>
          </a:xfrm>
          <a:prstGeom prst="roundRect">
            <a:avLst>
              <a:gd name="adj" fmla="val 12963"/>
            </a:avLst>
          </a:prstGeom>
          <a:solidFill>
            <a:srgbClr val="F4F6FC"/>
          </a:solidFill>
          <a:ln/>
        </p:spPr>
      </p:sp>
      <p:sp>
        <p:nvSpPr>
          <p:cNvPr id="30" name="Text 28"/>
          <p:cNvSpPr/>
          <p:nvPr/>
        </p:nvSpPr>
        <p:spPr>
          <a:xfrm>
            <a:off x="6498184" y="4974336"/>
            <a:ext cx="4742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설계서가 곧 테스트 목록입니다.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498184" y="5248656"/>
            <a:ext cx="47425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B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문서의 조항 번호를 테스트 이름에 그대로 달았습니다 — “§4-⑤ 정원 8명, 9번째는 입장 거부”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658368" y="63733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AA2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모이머 · 브레인 스파크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10618927" y="63733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9AA2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02336"/>
            <a:ext cx="10874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E5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겪은 문제 → 해결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58368" y="676656"/>
            <a:ext cx="108749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41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버그가 규칙을 만들었습니다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58368" y="1627632"/>
            <a:ext cx="10874959" cy="102412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  <a:effectLst>
            <a:outerShdw sx="100000" sy="100000" kx="0" ky="0" algn="bl" rotWithShape="0" blurRad="127000" dist="25400" dir="5400000">
              <a:srgbClr val="8A93B2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1938528"/>
            <a:ext cx="402336" cy="402336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6" name="Text 4"/>
          <p:cNvSpPr/>
          <p:nvPr/>
        </p:nvSpPr>
        <p:spPr>
          <a:xfrm>
            <a:off x="932688" y="19385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!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17904" y="1773936"/>
            <a:ext cx="96862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4명이 동시에 투표하면 표가 조용히 사라졌다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17904" y="2103120"/>
            <a:ext cx="475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6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  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모임 정보를 DB 한 행에 통째로 담았습니다. 나중에 저장된 쪽이 앞선 쪽을 덮어썼습니다.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52464" y="2103120"/>
            <a:ext cx="475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2A1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  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 단위를 모임 / 참가자 / 표 셋으로 쪼개고, “1인 1표”를 DB 기본키가 강제하게 했습니다.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58368" y="2798064"/>
            <a:ext cx="10874959" cy="102412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  <a:effectLst>
            <a:outerShdw sx="100000" sy="100000" kx="0" ky="0" algn="bl" rotWithShape="0" blurRad="127000" dist="25400" dir="5400000">
              <a:srgbClr val="8A93B2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32688" y="3108960"/>
            <a:ext cx="402336" cy="402336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2" name="Text 10"/>
          <p:cNvSpPr/>
          <p:nvPr/>
        </p:nvSpPr>
        <p:spPr>
          <a:xfrm>
            <a:off x="932688" y="31089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!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17904" y="2944368"/>
            <a:ext cx="96862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명이 멀면 중간지점이 충북 산속으로 갔다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517904" y="3273552"/>
            <a:ext cx="475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6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  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좌표를 평균 낸 무게중심을 썼습니다. 평균은 거리의 제곱합을 줄여 멀리 있는 한 명의 영향이 과도해집니다.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52464" y="3273552"/>
            <a:ext cx="475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2A1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  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거리의 합을 최소화하는 기하 중앙값으로 바꿔 서울 2km 지점으로 잡혔습니다.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58368" y="3968496"/>
            <a:ext cx="10874959" cy="102412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  <a:effectLst>
            <a:outerShdw sx="100000" sy="100000" kx="0" ky="0" algn="bl" rotWithShape="0" blurRad="127000" dist="25400" dir="5400000">
              <a:srgbClr val="8A93B2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32688" y="4279392"/>
            <a:ext cx="402336" cy="402336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8" name="Text 16"/>
          <p:cNvSpPr/>
          <p:nvPr/>
        </p:nvSpPr>
        <p:spPr>
          <a:xfrm>
            <a:off x="932688" y="42793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!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17904" y="4114800"/>
            <a:ext cx="96862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늦게 들어온 사람만 계속 “이동시간 없음”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517904" y="4443984"/>
            <a:ext cx="475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6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  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유료 API를 아끼려 250ms 간격 대기열을 뒀는데 기기마다 재계산을 요청했습니다 (후보3 × 인원4 × 기기4 = 48건).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52464" y="4443984"/>
            <a:ext cx="475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2A1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  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구간은 한 번만 계산해 결과를 같이 쓰고, 재계산 요청은 방장 화면만 보냅니다.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58368" y="5138928"/>
            <a:ext cx="10874959" cy="102412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  <a:effectLst>
            <a:outerShdw sx="100000" sy="100000" kx="0" ky="0" algn="bl" rotWithShape="0" blurRad="127000" dist="25400" dir="5400000">
              <a:srgbClr val="8A93B2">
                <a:alpha val="13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32688" y="5449824"/>
            <a:ext cx="402336" cy="402336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24" name="Text 22"/>
          <p:cNvSpPr/>
          <p:nvPr/>
        </p:nvSpPr>
        <p:spPr>
          <a:xfrm>
            <a:off x="932688" y="54498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!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517904" y="5285232"/>
            <a:ext cx="96862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빌드도 타입검사도 통과했는데 화면이 안 그려졌다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517904" y="5614416"/>
            <a:ext cx="475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6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  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 훅을 조건부 return 아래에 뒀습니다. 문법도 타입도 맞지만 특정 조건에서 화면이 안 나옵니다.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452464" y="5614416"/>
            <a:ext cx="475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2A1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  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브라우저 테스트를 커밋 관문에 넣고, 일부러 깨뜨려 그 테스트가 잡는 것까지 확인했습니다.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658368" y="63733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AA2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모이머 · 브레인 스파크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10618927" y="63733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9AA2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02336"/>
            <a:ext cx="10874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E5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솔직한 한계 · 앞으로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58368" y="676656"/>
            <a:ext cx="108749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41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못 한 것을 먼저 말씀드립니다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58368" y="1645920"/>
            <a:ext cx="5300320" cy="3291840"/>
          </a:xfrm>
          <a:prstGeom prst="roundRect">
            <a:avLst>
              <a:gd name="adj" fmla="val 3889"/>
            </a:avLst>
          </a:prstGeom>
          <a:solidFill>
            <a:srgbClr val="FFEDE8"/>
          </a:solidFill>
          <a:ln/>
        </p:spPr>
      </p:sp>
      <p:sp>
        <p:nvSpPr>
          <p:cNvPr id="5" name="Text 3"/>
          <p:cNvSpPr/>
          <p:nvPr/>
        </p:nvSpPr>
        <p:spPr>
          <a:xfrm>
            <a:off x="987552" y="1883664"/>
            <a:ext cx="464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C2E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아직 못 한 것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87552" y="2340864"/>
            <a:ext cx="464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8C2E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실환경 검증이 덜 끝났습니다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87552" y="2615184"/>
            <a:ext cx="464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C55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환경에는 키가 없어 이동시간이 전부 “거리 추정”으로 나옵니다. 키가 있는 기계에서만 확인되는 계약이 남아 있습니다.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87552" y="3200400"/>
            <a:ext cx="464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8C2E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스스로 정한 규칙을 못 지킨 곳이 있습니다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87552" y="3474720"/>
            <a:ext cx="464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C55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파일 400줄 상한을 정했는데 8개 파일이 이를 넘었습니다 (가장 큰 것 1,799줄).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87552" y="4059936"/>
            <a:ext cx="464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8C2E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범위 밖으로 둔 것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87552" y="4334256"/>
            <a:ext cx="464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C55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결제는 모의결제이고, 이동수단은 대중교통·자차 2종입니다. 캘린더는 내보내기만 됩니다.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33008" y="1645920"/>
            <a:ext cx="5300320" cy="3291840"/>
          </a:xfrm>
          <a:prstGeom prst="roundRect">
            <a:avLst>
              <a:gd name="adj" fmla="val 3889"/>
            </a:avLst>
          </a:prstGeom>
          <a:solidFill>
            <a:srgbClr val="F4F6FC"/>
          </a:solidFill>
          <a:ln/>
        </p:spPr>
      </p:sp>
      <p:sp>
        <p:nvSpPr>
          <p:cNvPr id="13" name="Text 11"/>
          <p:cNvSpPr/>
          <p:nvPr/>
        </p:nvSpPr>
        <p:spPr>
          <a:xfrm>
            <a:off x="6562192" y="1883664"/>
            <a:ext cx="464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F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다음에 할 것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562192" y="2304288"/>
            <a:ext cx="310896" cy="310896"/>
          </a:xfrm>
          <a:prstGeom prst="ellipse">
            <a:avLst/>
          </a:prstGeom>
          <a:solidFill>
            <a:srgbClr val="2E5BFF"/>
          </a:solidFill>
          <a:ln/>
        </p:spPr>
      </p:sp>
      <p:sp>
        <p:nvSpPr>
          <p:cNvPr id="15" name="Text 13"/>
          <p:cNvSpPr/>
          <p:nvPr/>
        </p:nvSpPr>
        <p:spPr>
          <a:xfrm>
            <a:off x="6562192" y="23042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982816" y="2286000"/>
            <a:ext cx="420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카카오톡 알리기 상시화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982816" y="2560320"/>
            <a:ext cx="420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지금은 결과 화면 한 곳뿐 — 지역 확정·투표 시작 때도 단톡방으로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562192" y="2980944"/>
            <a:ext cx="310896" cy="310896"/>
          </a:xfrm>
          <a:prstGeom prst="ellipse">
            <a:avLst/>
          </a:prstGeom>
          <a:solidFill>
            <a:srgbClr val="2E5BFF"/>
          </a:solidFill>
          <a:ln/>
        </p:spPr>
      </p:sp>
      <p:sp>
        <p:nvSpPr>
          <p:cNvPr id="19" name="Text 17"/>
          <p:cNvSpPr/>
          <p:nvPr/>
        </p:nvSpPr>
        <p:spPr>
          <a:xfrm>
            <a:off x="6562192" y="29809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982816" y="2962656"/>
            <a:ext cx="420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이동수단 4종 확장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982816" y="3236976"/>
            <a:ext cx="420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지금은 대중교통·자차 2종 (도보·자전거 추가)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562192" y="3657600"/>
            <a:ext cx="310896" cy="310896"/>
          </a:xfrm>
          <a:prstGeom prst="ellipse">
            <a:avLst/>
          </a:prstGeom>
          <a:solidFill>
            <a:srgbClr val="2E5BFF"/>
          </a:solidFill>
          <a:ln/>
        </p:spPr>
      </p:sp>
      <p:sp>
        <p:nvSpPr>
          <p:cNvPr id="23" name="Text 21"/>
          <p:cNvSpPr/>
          <p:nvPr/>
        </p:nvSpPr>
        <p:spPr>
          <a:xfrm>
            <a:off x="6562192" y="3657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982816" y="3639312"/>
            <a:ext cx="420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안드로이드 APK 포장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982816" y="3913632"/>
            <a:ext cx="420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PWA → TWA. 지금 웹앱이 그대로 앱이 됩니다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562192" y="4334256"/>
            <a:ext cx="310896" cy="310896"/>
          </a:xfrm>
          <a:prstGeom prst="ellipse">
            <a:avLst/>
          </a:prstGeom>
          <a:solidFill>
            <a:srgbClr val="2E5BFF"/>
          </a:solidFill>
          <a:ln/>
        </p:spPr>
      </p:sp>
      <p:sp>
        <p:nvSpPr>
          <p:cNvPr id="27" name="Text 25"/>
          <p:cNvSpPr/>
          <p:nvPr/>
        </p:nvSpPr>
        <p:spPr>
          <a:xfrm>
            <a:off x="6562192" y="43342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982816" y="4315968"/>
            <a:ext cx="420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폴링 → 실시간 연결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982816" y="4590288"/>
            <a:ext cx="420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1.8초 폴링을 WebSocket/SSE 로. Neon 은 Realtime 이 없어 자체 서버가 필요합니다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58368" y="5120640"/>
            <a:ext cx="10874959" cy="713232"/>
          </a:xfrm>
          <a:prstGeom prst="roundRect">
            <a:avLst>
              <a:gd name="adj" fmla="val 17949"/>
            </a:avLst>
          </a:prstGeom>
          <a:solidFill>
            <a:srgbClr val="141A3C"/>
          </a:solidFill>
          <a:ln/>
        </p:spPr>
      </p:sp>
      <p:sp>
        <p:nvSpPr>
          <p:cNvPr id="31" name="Text 29"/>
          <p:cNvSpPr/>
          <p:nvPr/>
        </p:nvSpPr>
        <p:spPr>
          <a:xfrm>
            <a:off x="1024128" y="5120640"/>
            <a:ext cx="101434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FA3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슬라이드를 넣은 이유 — </a:t>
            </a:r>
            <a:pPr indent="0" marL="0">
              <a:buNone/>
            </a:pPr>
            <a:r>
              <a:rPr lang="en-US" sz="1200" dirty="0">
                <a:solidFill>
                  <a:srgbClr val="C3CB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저희가 이 프로젝트에서 배운 가장 큰 것이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“되는 것처럼 보이는 것”과 “되는 것”은 다르다</a:t>
            </a:r>
            <a:pPr indent="0" marL="0">
              <a:buNone/>
            </a:pPr>
            <a:r>
              <a:rPr lang="en-US" sz="1200" dirty="0">
                <a:solidFill>
                  <a:srgbClr val="C3CB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점이라, 발표 자료에서도 같은 기준을 지키는 것이 맞다고 판단했습니다.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658368" y="63733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AA2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모이머 · 브레인 스파크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10618927" y="63733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9AA2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1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3840480"/>
            <a:ext cx="5852160" cy="5852160"/>
          </a:xfrm>
          <a:prstGeom prst="ellipse">
            <a:avLst/>
          </a:prstGeom>
          <a:solidFill>
            <a:srgbClr val="2E5BFF">
              <a:alpha val="14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118872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58368" y="2048256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C3CB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“어디서 만날까?”에 답을 내는 데 </a:t>
            </a:r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3분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658368" y="257860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AFBD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출발지를 넣고 · 지도를 한 번 누르고 · 방장이 확정한다.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AFBD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사이의 모든 계산과 합의 절차를 모이머가 맡습니다.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58368" y="3566160"/>
            <a:ext cx="2377440" cy="402336"/>
          </a:xfrm>
          <a:prstGeom prst="roundRect">
            <a:avLst>
              <a:gd name="adj" fmla="val 38636"/>
            </a:avLst>
          </a:prstGeom>
          <a:solidFill>
            <a:srgbClr val="2E5BFF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3566160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시연합니다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182112" y="3566160"/>
            <a:ext cx="1554480" cy="402336"/>
          </a:xfrm>
          <a:prstGeom prst="roundRect">
            <a:avLst>
              <a:gd name="adj" fmla="val 38636"/>
            </a:avLst>
          </a:prstGeom>
          <a:solidFill>
            <a:srgbClr val="1E2A5A"/>
          </a:solidFill>
          <a:ln/>
        </p:spPr>
      </p:sp>
      <p:sp>
        <p:nvSpPr>
          <p:cNvPr id="9" name="Text 7"/>
          <p:cNvSpPr/>
          <p:nvPr/>
        </p:nvSpPr>
        <p:spPr>
          <a:xfrm>
            <a:off x="3182112" y="3566160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FBD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 환영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58368" y="4572000"/>
            <a:ext cx="6858000" cy="0"/>
          </a:xfrm>
          <a:prstGeom prst="line">
            <a:avLst/>
          </a:prstGeom>
          <a:noFill/>
          <a:ln w="12700">
            <a:solidFill>
              <a:srgbClr val="2E396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4754880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FBD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브레인 스파크  ·  최병현 · 김유환 · 양성은 · 신동원        멘토 최종원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58368" y="5102352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7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상세는 뒤에 부록으로 준비했습니다 — 질문 주시면 그쪽을 보여드리겠습니다.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001000" y="1417320"/>
            <a:ext cx="3520440" cy="3977640"/>
          </a:xfrm>
          <a:prstGeom prst="roundRect">
            <a:avLst>
              <a:gd name="adj" fmla="val 5195"/>
            </a:avLst>
          </a:prstGeom>
          <a:solidFill>
            <a:srgbClr val="FFFFFF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05672" y="1783080"/>
            <a:ext cx="1920240" cy="192024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8183880" y="384048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여러분 폰에서 바로 열립니다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183880" y="418795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5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ai-bootcamp-team3-final-project.vercel.app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8183880" y="455371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 없이 · 회원가입 없이</a:t>
            </a:r>
            <a:endParaRPr lang="en-US" sz="10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링크를 연 사람은 바로 참여자가 됩니다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658368" y="63733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E77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모이머 · 브레인 스파크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10618927" y="63733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E77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1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286000"/>
            <a:ext cx="108749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8FA3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· Appendix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58368" y="2651760"/>
            <a:ext cx="1087495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상세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58368" y="36118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3CB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본편에서는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왜 만들었는지</a:t>
            </a:r>
            <a:pPr indent="0" marL="0">
              <a:buNone/>
            </a:pPr>
            <a:r>
              <a:rPr lang="en-US" sz="1400" dirty="0">
                <a:solidFill>
                  <a:srgbClr val="C3CB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말씀드렸습니다. 여기서부터는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어떻게 만들었고 어떻게 검증했는지</a:t>
            </a:r>
            <a:pPr indent="0" marL="0">
              <a:buNone/>
            </a:pPr>
            <a:r>
              <a:rPr lang="en-US" sz="1400" dirty="0">
                <a:solidFill>
                  <a:srgbClr val="C3CB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58368" y="434340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3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19. 배포 구성 — Vercel · Neon · 외부 API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58368" y="4727448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3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20. 팀 협업 체계 — 4명이 같은 코드를 만질 때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58368" y="5111496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3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21. AI 활용 — 무엇을 맡기고 무엇을 맡기지 않았나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58368" y="63733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E77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· 모이머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10618927" y="63733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E77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02336"/>
            <a:ext cx="10874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E5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· 배포 구성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58368" y="676656"/>
            <a:ext cx="108749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41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노트북에서만 돌던 것을 인터넷에 올렸습니다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58368" y="1737360"/>
            <a:ext cx="3108960" cy="1371600"/>
          </a:xfrm>
          <a:prstGeom prst="roundRect">
            <a:avLst>
              <a:gd name="adj" fmla="val 9333"/>
            </a:avLst>
          </a:prstGeom>
          <a:solidFill>
            <a:srgbClr val="F4F6FC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193852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청중 폰 / 노트북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32688" y="2304288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6B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브라우저만 있으면 됩니다.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6B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PWA 라 홈 화면에 추가도 됩니다.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767328" y="2194560"/>
            <a:ext cx="774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AA2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41368" y="1737360"/>
            <a:ext cx="3108960" cy="1371600"/>
          </a:xfrm>
          <a:prstGeom prst="roundRect">
            <a:avLst>
              <a:gd name="adj" fmla="val 9333"/>
            </a:avLst>
          </a:prstGeom>
          <a:solidFill>
            <a:srgbClr val="2E5BFF"/>
          </a:solidFill>
          <a:ln/>
        </p:spPr>
      </p:sp>
      <p:sp>
        <p:nvSpPr>
          <p:cNvPr id="9" name="Text 7"/>
          <p:cNvSpPr/>
          <p:nvPr/>
        </p:nvSpPr>
        <p:spPr>
          <a:xfrm>
            <a:off x="4815688" y="193852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Vercel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15688" y="2304288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D3DC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Next.js 서버리스.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D3DC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 main 에 머지하면 자동 배포.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650328" y="2194560"/>
            <a:ext cx="774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AA2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8424367" y="1737360"/>
            <a:ext cx="3108960" cy="1371600"/>
          </a:xfrm>
          <a:prstGeom prst="roundRect">
            <a:avLst>
              <a:gd name="adj" fmla="val 9333"/>
            </a:avLst>
          </a:prstGeom>
          <a:solidFill>
            <a:srgbClr val="F4F6FC"/>
          </a:solidFill>
          <a:ln/>
        </p:spPr>
      </p:sp>
      <p:sp>
        <p:nvSpPr>
          <p:cNvPr id="13" name="Text 11"/>
          <p:cNvSpPr/>
          <p:nvPr/>
        </p:nvSpPr>
        <p:spPr>
          <a:xfrm>
            <a:off x="8698687" y="193852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Neon PostgreSQL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698687" y="2304288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6B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모임 / 참가자 / 표 3개 테이블.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6B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키가 없으면 인메모리로 자동 전환.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8368" y="3364992"/>
            <a:ext cx="1087495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5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API 4종 — 전부 대체 동작이 있습니다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58368" y="3712464"/>
            <a:ext cx="10874959" cy="420624"/>
          </a:xfrm>
          <a:prstGeom prst="roundRect">
            <a:avLst>
              <a:gd name="adj" fmla="val 17391"/>
            </a:avLst>
          </a:prstGeom>
          <a:solidFill>
            <a:srgbClr val="F4F6FC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3712464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카카오맵 SDK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624328" y="3712464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44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지도 표시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93208" y="3712464"/>
            <a:ext cx="621151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 없으면 대체 지도 — 누른 자리를 좌표로 되돌립니다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58368" y="4215384"/>
            <a:ext cx="10874959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4215384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카카오 로컬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2624328" y="4215384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44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장소 검색 · 지오코딩 · 역 스냅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93208" y="4215384"/>
            <a:ext cx="621151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 없으면 mock 목록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58368" y="4718304"/>
            <a:ext cx="10874959" cy="420624"/>
          </a:xfrm>
          <a:prstGeom prst="roundRect">
            <a:avLst>
              <a:gd name="adj" fmla="val 17391"/>
            </a:avLst>
          </a:prstGeom>
          <a:solidFill>
            <a:srgbClr val="F4F6FC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4718304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ODsay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2624328" y="4718304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44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대중교통 이동시간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93208" y="4718304"/>
            <a:ext cx="621151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 없으면 직선거리 추정 (배지가 “거리 추정”으로 바뀝니다)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58368" y="5221224"/>
            <a:ext cx="10874959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914400" y="5221224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TMAP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2624328" y="5221224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44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자차 이동시간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093208" y="5221224"/>
            <a:ext cx="621151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 없으면 직선거리 추정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58368" y="5797296"/>
            <a:ext cx="1087495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93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배포에서 유의할 점 — Vercel 은 나가는 IP 가 유동이라 IP 화이트리스트를 요구하는 ODsay 서버 키를 직접 쓸 수 없습니다. 고정 IP 프록시를 경유하도록 우회로를 만들어 뒀습니다.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58368" y="63733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AA2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· 모이머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10618927" y="63733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9AA2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02336"/>
            <a:ext cx="10874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E5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· 팀 협업 체계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58368" y="676656"/>
            <a:ext cx="108749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41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4명이 같은 코드를 동시에 만질 때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58368" y="1691640"/>
            <a:ext cx="5309464" cy="1261872"/>
          </a:xfrm>
          <a:prstGeom prst="roundRect">
            <a:avLst>
              <a:gd name="adj" fmla="val 10145"/>
            </a:avLst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  <a:effectLst>
            <a:outerShdw sx="100000" sy="100000" kx="0" ky="0" algn="bl" rotWithShape="0" blurRad="127000" dist="25400" dir="5400000">
              <a:srgbClr val="8A93B2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1947672"/>
            <a:ext cx="402336" cy="402336"/>
          </a:xfrm>
          <a:prstGeom prst="ellipse">
            <a:avLst/>
          </a:prstGeom>
          <a:solidFill>
            <a:srgbClr val="E9EDFF"/>
          </a:solidFill>
          <a:ln/>
        </p:spPr>
      </p:sp>
      <p:sp>
        <p:nvSpPr>
          <p:cNvPr id="6" name="Text 4"/>
          <p:cNvSpPr/>
          <p:nvPr/>
        </p:nvSpPr>
        <p:spPr>
          <a:xfrm>
            <a:off x="932688" y="19476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F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81328" y="1911096"/>
            <a:ext cx="4212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공용 파일은 통합 담당자 소유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81328" y="2258568"/>
            <a:ext cx="42121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6B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lib/types.ts · lib/store.ts · app/globals.css 등 10개 파일은 GitHub CODEOWNERS 가 리뷰를 강제합니다. 고쳐야 하면 멈추고 PR 설명에 이유를 씁니다.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23864" y="1691640"/>
            <a:ext cx="5309464" cy="1261872"/>
          </a:xfrm>
          <a:prstGeom prst="roundRect">
            <a:avLst>
              <a:gd name="adj" fmla="val 10145"/>
            </a:avLst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  <a:effectLst>
            <a:outerShdw sx="100000" sy="100000" kx="0" ky="0" algn="bl" rotWithShape="0" blurRad="127000" dist="25400" dir="5400000">
              <a:srgbClr val="8A93B2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8184" y="1947672"/>
            <a:ext cx="402336" cy="402336"/>
          </a:xfrm>
          <a:prstGeom prst="ellipse">
            <a:avLst/>
          </a:prstGeom>
          <a:solidFill>
            <a:srgbClr val="E9EDFF"/>
          </a:solidFill>
          <a:ln/>
        </p:spPr>
      </p:sp>
      <p:sp>
        <p:nvSpPr>
          <p:cNvPr id="11" name="Text 9"/>
          <p:cNvSpPr/>
          <p:nvPr/>
        </p:nvSpPr>
        <p:spPr>
          <a:xfrm>
            <a:off x="6498184" y="19476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F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046824" y="1911096"/>
            <a:ext cx="4212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파일 400줄 상한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046824" y="2258568"/>
            <a:ext cx="42121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6B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넘으면 쪼갭니다. 큰 파일은 AI 가 엉뚱한 곳을 고치고, 두 사람이 동시에 만지면 매일 충돌납니다. (지키지 못한 파일 8개 — 본편 한계 참고)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58368" y="3108960"/>
            <a:ext cx="5309464" cy="1261872"/>
          </a:xfrm>
          <a:prstGeom prst="roundRect">
            <a:avLst>
              <a:gd name="adj" fmla="val 10145"/>
            </a:avLst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  <a:effectLst>
            <a:outerShdw sx="100000" sy="100000" kx="0" ky="0" algn="bl" rotWithShape="0" blurRad="127000" dist="25400" dir="5400000">
              <a:srgbClr val="8A93B2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32688" y="3364992"/>
            <a:ext cx="402336" cy="402336"/>
          </a:xfrm>
          <a:prstGeom prst="ellipse">
            <a:avLst/>
          </a:prstGeom>
          <a:solidFill>
            <a:srgbClr val="E9EDFF"/>
          </a:solidFill>
          <a:ln/>
        </p:spPr>
      </p:sp>
      <p:sp>
        <p:nvSpPr>
          <p:cNvPr id="16" name="Text 14"/>
          <p:cNvSpPr/>
          <p:nvPr/>
        </p:nvSpPr>
        <p:spPr>
          <a:xfrm>
            <a:off x="932688" y="33649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F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481328" y="3328416"/>
            <a:ext cx="4212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만드는 중인 기능은 스위치 뒤에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81328" y="3675888"/>
            <a:ext cx="42121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6B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절반만 된 상태로 통합 브랜치에 들어가도 남의 화면이 안 깨집니다. 스위치는 상수가 아니라 환경변수로 — 브랜치마다 값이 달라지면 합칠 때마다 그 줄에서 충돌납니다.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23864" y="3108960"/>
            <a:ext cx="5309464" cy="1261872"/>
          </a:xfrm>
          <a:prstGeom prst="roundRect">
            <a:avLst>
              <a:gd name="adj" fmla="val 10145"/>
            </a:avLst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  <a:effectLst>
            <a:outerShdw sx="100000" sy="100000" kx="0" ky="0" algn="bl" rotWithShape="0" blurRad="127000" dist="25400" dir="5400000">
              <a:srgbClr val="8A93B2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98184" y="3364992"/>
            <a:ext cx="402336" cy="402336"/>
          </a:xfrm>
          <a:prstGeom prst="ellipse">
            <a:avLst/>
          </a:prstGeom>
          <a:solidFill>
            <a:srgbClr val="E9EDFF"/>
          </a:solidFill>
          <a:ln/>
        </p:spPr>
      </p:sp>
      <p:sp>
        <p:nvSpPr>
          <p:cNvPr id="21" name="Text 19"/>
          <p:cNvSpPr/>
          <p:nvPr/>
        </p:nvSpPr>
        <p:spPr>
          <a:xfrm>
            <a:off x="6498184" y="33649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F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046824" y="3328416"/>
            <a:ext cx="4212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브랜치 · 버전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046824" y="3675888"/>
            <a:ext cx="42121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6B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main(배포) ← develop(통합) ← feat/* · fix/*. 커밋 접두사가 곧 버전 규칙입니다 (feat: → MINOR, fix: → PATCH). 최종발표일에 1.0.0 을 답니다.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58368" y="4526280"/>
            <a:ext cx="10874959" cy="1261872"/>
          </a:xfrm>
          <a:prstGeom prst="roundRect">
            <a:avLst>
              <a:gd name="adj" fmla="val 10145"/>
            </a:avLst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  <a:effectLst>
            <a:outerShdw sx="100000" sy="100000" kx="0" ky="0" algn="bl" rotWithShape="0" blurRad="127000" dist="25400" dir="5400000">
              <a:srgbClr val="8A93B2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32688" y="4782312"/>
            <a:ext cx="402336" cy="402336"/>
          </a:xfrm>
          <a:prstGeom prst="ellipse">
            <a:avLst/>
          </a:prstGeom>
          <a:solidFill>
            <a:srgbClr val="E9EDFF"/>
          </a:solidFill>
          <a:ln/>
        </p:spPr>
      </p:sp>
      <p:sp>
        <p:nvSpPr>
          <p:cNvPr id="26" name="Text 24"/>
          <p:cNvSpPr/>
          <p:nvPr/>
        </p:nvSpPr>
        <p:spPr>
          <a:xfrm>
            <a:off x="932688" y="47823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F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481328" y="4745736"/>
            <a:ext cx="97776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 기록은 예외 없이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481328" y="5093208"/>
            <a:ext cx="977767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6B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파일을 바꾸면 CHANGELOG.md 에 “날짜 · 작업자 · 파일 · 내용 · 사유” 한 줄을 남깁니다. 기록 없는 변경은 금지입니다.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58368" y="63733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AA2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· 모이머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0618927" y="63733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9AA2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02336"/>
            <a:ext cx="10874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E5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· AI 활용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58368" y="676656"/>
            <a:ext cx="108749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41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맡기고 무엇을 맡기지 않았나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58368" y="1691640"/>
            <a:ext cx="5300320" cy="1965960"/>
          </a:xfrm>
          <a:prstGeom prst="roundRect">
            <a:avLst>
              <a:gd name="adj" fmla="val 6512"/>
            </a:avLst>
          </a:prstGeom>
          <a:solidFill>
            <a:srgbClr val="E9EDFF"/>
          </a:solidFill>
          <a:ln/>
        </p:spPr>
      </p:sp>
      <p:sp>
        <p:nvSpPr>
          <p:cNvPr id="5" name="Text 3"/>
          <p:cNvSpPr/>
          <p:nvPr/>
        </p:nvSpPr>
        <p:spPr>
          <a:xfrm>
            <a:off x="987552" y="1901952"/>
            <a:ext cx="464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F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가 생성한 것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87552" y="2286000"/>
            <a:ext cx="4641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A3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보일러플레이트 · 외부 API 래퍼 · SQL 초안 · 테스트 코드 · 문서 초안 · 리팩터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87552" y="3054096"/>
            <a:ext cx="4641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A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생성 코드가 포함된 PR 본문에는 그 사실을 표기합니다.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33008" y="1691640"/>
            <a:ext cx="5300320" cy="1965960"/>
          </a:xfrm>
          <a:prstGeom prst="roundRect">
            <a:avLst>
              <a:gd name="adj" fmla="val 6512"/>
            </a:avLst>
          </a:prstGeom>
          <a:solidFill>
            <a:srgbClr val="FFEDE8"/>
          </a:solidFill>
          <a:ln/>
        </p:spPr>
      </p:sp>
      <p:sp>
        <p:nvSpPr>
          <p:cNvPr id="9" name="Text 7"/>
          <p:cNvSpPr/>
          <p:nvPr/>
        </p:nvSpPr>
        <p:spPr>
          <a:xfrm>
            <a:off x="6562192" y="1901952"/>
            <a:ext cx="464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C2E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사람이 판단한 것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62192" y="2286000"/>
            <a:ext cx="4641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8C2E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· 범위 결정 · 추천 가중치 값 · 프롬프트 최종본 · 통과 기준 · 수동 QA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562192" y="3054096"/>
            <a:ext cx="4641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55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점수식의 0.8 이라는 숫자도, 그 숫자를 쓸지도 팀이 정했습니다.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58368" y="3931920"/>
            <a:ext cx="1087495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5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에게 규칙을 문서로 줍니다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8368" y="4279392"/>
            <a:ext cx="10874959" cy="1170432"/>
          </a:xfrm>
          <a:prstGeom prst="roundRect">
            <a:avLst>
              <a:gd name="adj" fmla="val 10938"/>
            </a:avLst>
          </a:prstGeom>
          <a:solidFill>
            <a:srgbClr val="F4F6FC"/>
          </a:solidFill>
          <a:ln/>
        </p:spPr>
      </p:sp>
      <p:sp>
        <p:nvSpPr>
          <p:cNvPr id="14" name="Text 12"/>
          <p:cNvSpPr/>
          <p:nvPr/>
        </p:nvSpPr>
        <p:spPr>
          <a:xfrm>
            <a:off x="1024128" y="4462272"/>
            <a:ext cx="10143439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150" b="1" dirty="0">
                <a:solidFill>
                  <a:srgbClr val="141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저장소 최상단의 CLAUDE.md 가 “어떻게 만드는가”를, docs/설계_v19.md 가 “무엇을 만드는가”를 정합니다.
</a:t>
            </a:r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6B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폴더마다 더 구체적인 규칙 파일을 두어, AI 가 그 폴더에서 작업할 때 먼저 읽게 했습니다. 비용이 드는 외부 API 를 실제로 호출하기 전에는 반드시 사전 경고하고 승인을 받도록 규칙에 못 박아 두었습니다.
</a:t>
            </a:r>
            <a:pPr indent="0" marL="0">
              <a:lnSpc>
                <a:spcPts val="1900"/>
              </a:lnSpc>
              <a:buNone/>
            </a:pPr>
            <a:r>
              <a:rPr lang="en-US" sz="1150" b="1" dirty="0">
                <a:solidFill>
                  <a:srgbClr val="1B3F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를 잘 쓰는 것은 프롬프트를 잘 쓰는 것이 아니라, 판단 기준을 코드 옆에 문서로 남겨 두는 것이었습니다.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58368" y="63733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AA2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· 모이머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0618927" y="63733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9AA2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모이머 — 최종발표</dc:title>
  <dc:subject>PptxGenJS Presentation</dc:subject>
  <dc:creator>브레인 스파크</dc:creator>
  <cp:lastModifiedBy>브레인 스파크</cp:lastModifiedBy>
  <cp:revision>1</cp:revision>
  <dcterms:created xsi:type="dcterms:W3CDTF">2026-08-14T01:25:37Z</dcterms:created>
  <dcterms:modified xsi:type="dcterms:W3CDTF">2026-08-14T01:25:37Z</dcterms:modified>
</cp:coreProperties>
</file>